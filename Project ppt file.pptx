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4" r:id="rId3"/>
    <p:sldId id="265" r:id="rId4"/>
    <p:sldId id="266" r:id="rId5"/>
    <p:sldId id="287" r:id="rId6"/>
    <p:sldId id="293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7" r:id="rId15"/>
    <p:sldId id="268" r:id="rId16"/>
    <p:sldId id="269" r:id="rId17"/>
    <p:sldId id="270" r:id="rId18"/>
    <p:sldId id="288" r:id="rId19"/>
    <p:sldId id="289" r:id="rId20"/>
    <p:sldId id="290" r:id="rId21"/>
    <p:sldId id="291" r:id="rId22"/>
    <p:sldId id="292" r:id="rId23"/>
    <p:sldId id="29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3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2A843-8F1A-4DFD-9973-5112C94C39D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D4B4D-F174-4716-A1E2-80016DA80E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47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0E71-A920-76D5-2830-08CB33ACA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18FB8-A35C-918B-C38C-A9AB6E54E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56E2B-B035-4531-F0A3-B4C16341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C5846-2F09-702E-86CC-F819C0914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BF6DF-509C-03E7-4606-FB3DF093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55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4F56-CBB9-185D-0C8C-4E526343F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755AA-CCEB-CE7C-3907-01DCFA252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A34AC-79ED-9EA1-56F3-D70B4FCA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B9021-4FD5-32FA-D552-36945132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1B50-2249-829A-FA30-A113A55A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92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CDC3-6306-D5BA-FE85-A2C98D7E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E50E-86BF-51A7-502D-EDF2990B7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694D5-55F7-C176-51D6-7D4F2CEA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A4968-D346-072C-6A9E-DD248224E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A9E3-269C-A7B1-B715-8351AC5C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57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C642E-6C3B-7E86-6980-62C0A576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ECC58-EA69-DDBB-74C3-389604C93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51C96-1325-002A-A2C8-2FD2FC865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F75AF-3987-6ABF-EED7-45C31D44F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B4BFD-095D-4F3A-CCEA-9C685D06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2D75D-528A-E660-F630-0696DB29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35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C528-5B14-1DCE-19DB-A6E8A2285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BE54D-CCE9-DE49-4EFD-9A4011BC2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020EE-9CF5-3345-36F3-59299F5C2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4CC40-44EE-814E-DB43-0D95BE90B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400BDD-6CE7-FFCE-2D48-E1E329DCC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850EB-CB90-BE89-C857-AB17C2C8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4C433E-2FB4-9805-E60B-0DF569601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4B4FA-6416-82BF-91CA-5C2067E9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1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F875-09C4-7028-22DF-4CAE7BC4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A0D60-12F8-D9BB-8DA4-F5BC3E2C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E12A8-E7CD-DF5B-2FDE-B4488252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3EB4A-7056-70E0-4654-910BDBE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84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D57A1-B6A9-12FE-2FBA-3E85E82E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3EC2C-8B2D-8BC9-2D90-B6DE7D54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D203F-5EF7-F242-2DDF-F1A8F593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93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DC6-0F91-498B-7BDC-1F75CBA0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CC943-D3A1-D067-6E83-376100AA0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AA416-91B3-4A9C-B6A7-826E4734E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FA5C-B2C2-D1D5-AD7B-EFA660F1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DB1EE-E555-1BAA-2072-258B80A8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66FEC-3B06-E7CD-EF5B-57D77250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51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811F3-6033-B620-9DF6-5F461924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5AAFD1-3192-7B77-4D99-6EE133453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28EEE-FCE2-7DFC-34EF-443254175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D6B31-711D-123E-5258-0BBD794B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6A714-B174-6435-1895-04E960A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7CE54-4D95-5318-F941-95DA2C98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34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9E86B-6AE3-5BDF-410F-B318F1E77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7896F-79F9-8D07-D9B6-29DD55F95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F15D9-5742-A975-BFA0-1D47A473F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A8959-6980-D72C-00EF-9396F198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9FB17-0A4B-AFEF-E280-139FD4E0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08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01909-D0F4-ADAD-E523-E460194AF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EC745-31CC-E0D0-4B83-481DBFE43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C975-9FC2-1D67-B74B-CAE83BCCD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1313A-CF91-08C8-921A-AF7A0DB4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BF2CC-4C03-CFFE-2669-893D3B26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90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B18595-0FC3-D13E-C9F3-38563F475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FADD4-A6BA-67EC-5475-2862F86FB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3C397-04E0-0941-71A0-419DD76B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DC7BD-D527-47C2-9920-AE2215F24B4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0F8A8-9F72-A2B5-90AD-7708499C4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012A4-18B2-7AEA-76A8-A4C8546E2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DC99C-B3EB-4DC8-AE1B-484492392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34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7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9.xml"/><Relationship Id="rId7" Type="http://schemas.openxmlformats.org/officeDocument/2006/relationships/slide" Target="slide1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9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14.xml"/><Relationship Id="rId7" Type="http://schemas.openxmlformats.org/officeDocument/2006/relationships/slide" Target="slid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slide" Target="slide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22.xml"/><Relationship Id="rId4" Type="http://schemas.openxmlformats.org/officeDocument/2006/relationships/slide" Target="slide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4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slide" Target="slide2.xml"/><Relationship Id="rId5" Type="http://schemas.openxmlformats.org/officeDocument/2006/relationships/image" Target="../media/image16.png"/><Relationship Id="rId10" Type="http://schemas.openxmlformats.org/officeDocument/2006/relationships/slide" Target="slide15.xml"/><Relationship Id="rId4" Type="http://schemas.openxmlformats.org/officeDocument/2006/relationships/image" Target="../media/image15.png"/><Relationship Id="rId9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slide" Target="slide2.xml"/><Relationship Id="rId4" Type="http://schemas.openxmlformats.org/officeDocument/2006/relationships/image" Target="../media/image21.png"/><Relationship Id="rId9" Type="http://schemas.openxmlformats.org/officeDocument/2006/relationships/slide" Target="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seemkaipakasseri1994.github.io/My-Project-HTML/" TargetMode="Externa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ADF1-7BB6-1E36-27CF-0356A84BC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38E25-A4CE-E0CC-8A8E-5590E45A9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634FD-4733-16CB-A660-21AEA006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5" t="23339" r="155" b="-11755"/>
          <a:stretch>
            <a:fillRect/>
          </a:stretch>
        </p:blipFill>
        <p:spPr>
          <a:xfrm>
            <a:off x="-18907" y="0"/>
            <a:ext cx="12209016" cy="790956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3C6121C2-1174-5E99-EC5A-03FBC683CCC3}"/>
              </a:ext>
            </a:extLst>
          </p:cNvPr>
          <p:cNvSpPr txBox="1"/>
          <p:nvPr/>
        </p:nvSpPr>
        <p:spPr>
          <a:xfrm>
            <a:off x="502920" y="653256"/>
            <a:ext cx="8412480" cy="1305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Ship Fuel Efficiency</a:t>
            </a:r>
            <a:endParaRPr lang="en-US" sz="4000" dirty="0">
              <a:solidFill>
                <a:schemeClr val="bg1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&amp; Emissions Analysis</a:t>
            </a:r>
            <a:endParaRPr lang="en-US" sz="4000" dirty="0">
              <a:solidFill>
                <a:schemeClr val="bg1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4E13CCD-9EDA-E596-B0F5-1EC7E97977F5}"/>
              </a:ext>
            </a:extLst>
          </p:cNvPr>
          <p:cNvSpPr txBox="1"/>
          <p:nvPr/>
        </p:nvSpPr>
        <p:spPr>
          <a:xfrm>
            <a:off x="502920" y="1924368"/>
            <a:ext cx="78741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Final Project — </a:t>
            </a:r>
          </a:p>
          <a:p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Problem Definition &amp; Dataset Selection | Task 2: Data Cleaning &amp; Pre-processing | Task 3: EDA &amp; Visualizations| Task 4: Documentation, Insights &amp; Presentation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3274FE3-DDF5-3F59-372D-2B45D84F57A4}"/>
              </a:ext>
            </a:extLst>
          </p:cNvPr>
          <p:cNvSpPr txBox="1"/>
          <p:nvPr/>
        </p:nvSpPr>
        <p:spPr>
          <a:xfrm>
            <a:off x="421640" y="5577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Aseem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Environmental / Maritime Operations Analytics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ship_fuel_efficiency.csv  •  1,440 trip records  •  10 features</a:t>
            </a:r>
            <a:endParaRPr lang="en-US" sz="1300" dirty="0"/>
          </a:p>
        </p:txBody>
      </p:sp>
      <p:sp>
        <p:nvSpPr>
          <p:cNvPr id="9501" name="StartPresentation">
            <a:hlinkClick r:id="rId3" action="ppaction://hlinksldjump"/>
          </p:cNvPr>
          <p:cNvSpPr/>
          <p:nvPr/>
        </p:nvSpPr>
        <p:spPr>
          <a:xfrm>
            <a:off x="576072" y="315468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8763A">
              <a:alpha val="92000"/>
            </a:srgbClr>
          </a:solidFill>
          <a:ln w="12700">
            <a:solidFill>
              <a:srgbClr val="FFD9C4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400" b="1" spc="80" dirty="0">
                <a:solidFill>
                  <a:srgbClr val="FFFFFF"/>
                </a:solidFill>
                <a:latin typeface="Arial"/>
                <a:cs typeface="Arial"/>
              </a:rPr>
              <a:t>START PRESENTATION  »</a:t>
            </a:r>
          </a:p>
        </p:txBody>
      </p:sp>
      <p:sp>
        <p:nvSpPr>
          <p:cNvPr id="9502" name="TitleContents">
            <a:hlinkClick r:id="rId4" action="ppaction://hlinksldjump"/>
          </p:cNvPr>
          <p:cNvSpPr/>
          <p:nvPr/>
        </p:nvSpPr>
        <p:spPr>
          <a:xfrm>
            <a:off x="4224528" y="3154680"/>
            <a:ext cx="2011680" cy="73152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2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6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E9D8095-3769-56F8-A6AD-F97782CCED7D}"/>
              </a:ext>
            </a:extLst>
          </p:cNvPr>
          <p:cNvSpPr/>
          <p:nvPr/>
        </p:nvSpPr>
        <p:spPr>
          <a:xfrm>
            <a:off x="576072" y="42013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40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5259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/>
          <p:cNvPicPr>
            <a:picLocks noChangeAspect="1"/>
          </p:cNvPicPr>
          <p:nvPr/>
        </p:nvPicPr>
        <p:blipFill>
          <a:blip r:embed="rId2"/>
          <a:srcRect l="-155" t="23339" r="155" b="-11755"/>
          <a:stretch>
            <a:fillRect/>
          </a:stretch>
        </p:blipFill>
        <p:spPr>
          <a:xfrm>
            <a:off x="-18907" y="0"/>
            <a:ext cx="12209016" cy="7909560"/>
          </a:xfrm>
          <a:prstGeom prst="rect">
            <a:avLst/>
          </a:prstGeom>
        </p:spPr>
      </p:pic>
      <p:sp>
        <p:nvSpPr>
          <p:cNvPr id="9100" name="Scrim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1" name="ContentsKicker"/>
          <p:cNvSpPr txBox="1"/>
          <p:nvPr/>
        </p:nvSpPr>
        <p:spPr>
          <a:xfrm>
            <a:off x="777240" y="47548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i="0" spc="220" dirty="0">
                <a:solidFill>
                  <a:srgbClr val="58C5BD"/>
                </a:solidFill>
                <a:latin typeface="Arial"/>
                <a:cs typeface="Arial"/>
              </a:rPr>
              <a:t>NAVIGATE  —  CLICK ANY TASK TO JUMP TO IT</a:t>
            </a:r>
          </a:p>
        </p:txBody>
      </p:sp>
      <p:sp>
        <p:nvSpPr>
          <p:cNvPr id="9102" name="ContentsTitle"/>
          <p:cNvSpPr txBox="1"/>
          <p:nvPr/>
        </p:nvSpPr>
        <p:spPr>
          <a:xfrm>
            <a:off x="777240" y="7772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4000" b="1" i="0" spc="0" dirty="0">
                <a:solidFill>
                  <a:srgbClr val="FFFFFF"/>
                </a:solidFill>
                <a:latin typeface="Cambria"/>
                <a:cs typeface="Cambria"/>
              </a:rPr>
              <a:t>Table of Contents</a:t>
            </a:r>
          </a:p>
        </p:txBody>
      </p:sp>
      <p:sp>
        <p:nvSpPr>
          <p:cNvPr id="9103" name="TitleRule"/>
          <p:cNvSpPr/>
          <p:nvPr/>
        </p:nvSpPr>
        <p:spPr>
          <a:xfrm>
            <a:off x="795528" y="1517904"/>
            <a:ext cx="1371600" cy="41148"/>
          </a:xfrm>
          <a:prstGeom prst="rect">
            <a:avLst/>
          </a:prstGeom>
          <a:solidFill>
            <a:srgbClr val="E8763A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0" name="TopicLink1">
            <a:hlinkClick r:id="rId3" action="ppaction://hlinksldjump"/>
          </p:cNvPr>
          <p:cNvSpPr/>
          <p:nvPr/>
        </p:nvSpPr>
        <p:spPr>
          <a:xfrm>
            <a:off x="768365" y="1837944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01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Task  1  —  Problem Definition &amp; Dataset Selection </a:t>
            </a:r>
          </a:p>
        </p:txBody>
      </p:sp>
      <p:sp>
        <p:nvSpPr>
          <p:cNvPr id="9500" name="NavPrev">
            <a:hlinkClick r:id="rId4" action="ppaction://hlinksldjump"/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2" name="NavNext">
            <a:hlinkClick r:id="rId5" action="ppaction://hlinksldjump"/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START »</a:t>
            </a:r>
          </a:p>
        </p:txBody>
      </p:sp>
      <p:sp>
        <p:nvSpPr>
          <p:cNvPr id="2" name="TopicLink1">
            <a:hlinkClick r:id="rId6" action="ppaction://hlinksldjump"/>
            <a:extLst>
              <a:ext uri="{FF2B5EF4-FFF2-40B4-BE49-F238E27FC236}">
                <a16:creationId xmlns:a16="http://schemas.microsoft.com/office/drawing/2014/main" id="{9FC4CC5C-92EE-9211-580C-405933137CE2}"/>
              </a:ext>
            </a:extLst>
          </p:cNvPr>
          <p:cNvSpPr/>
          <p:nvPr/>
        </p:nvSpPr>
        <p:spPr>
          <a:xfrm>
            <a:off x="768365" y="2542032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02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Task  2  —  Data Cleaning &amp; Pre-processing </a:t>
            </a:r>
          </a:p>
        </p:txBody>
      </p:sp>
      <p:sp>
        <p:nvSpPr>
          <p:cNvPr id="3" name="TopicLink1">
            <a:hlinkClick r:id="rId7" action="ppaction://hlinksldjump"/>
            <a:extLst>
              <a:ext uri="{FF2B5EF4-FFF2-40B4-BE49-F238E27FC236}">
                <a16:creationId xmlns:a16="http://schemas.microsoft.com/office/drawing/2014/main" id="{45382161-2D8A-34F2-35DD-A244BD3B5495}"/>
              </a:ext>
            </a:extLst>
          </p:cNvPr>
          <p:cNvSpPr/>
          <p:nvPr/>
        </p:nvSpPr>
        <p:spPr>
          <a:xfrm>
            <a:off x="768365" y="3246120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03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Task  3  —  EDA &amp; Visualizations</a:t>
            </a:r>
          </a:p>
        </p:txBody>
      </p:sp>
      <p:sp>
        <p:nvSpPr>
          <p:cNvPr id="4" name="TopicLink1">
            <a:extLst>
              <a:ext uri="{FF2B5EF4-FFF2-40B4-BE49-F238E27FC236}">
                <a16:creationId xmlns:a16="http://schemas.microsoft.com/office/drawing/2014/main" id="{3178BF40-0244-6CC5-B0D6-36EA07887118}"/>
              </a:ext>
            </a:extLst>
          </p:cNvPr>
          <p:cNvSpPr/>
          <p:nvPr/>
        </p:nvSpPr>
        <p:spPr>
          <a:xfrm>
            <a:off x="768365" y="3950208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04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Task  4  —  Documentation, Insights &amp; Presentation</a:t>
            </a:r>
          </a:p>
        </p:txBody>
      </p:sp>
      <p:sp>
        <p:nvSpPr>
          <p:cNvPr id="7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D16D27E6-7B9C-7657-68B9-9C2980CE1BD1}"/>
              </a:ext>
            </a:extLst>
          </p:cNvPr>
          <p:cNvSpPr/>
          <p:nvPr/>
        </p:nvSpPr>
        <p:spPr>
          <a:xfrm>
            <a:off x="9801572" y="896554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F899-3129-01ED-645A-C209B356B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9D3C8556-385A-F320-A66E-887D65911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5" t="23339" r="155" b="-11755"/>
          <a:stretch>
            <a:fillRect/>
          </a:stretch>
        </p:blipFill>
        <p:spPr>
          <a:xfrm>
            <a:off x="-18907" y="0"/>
            <a:ext cx="12209016" cy="7909560"/>
          </a:xfrm>
          <a:prstGeom prst="rect">
            <a:avLst/>
          </a:prstGeom>
        </p:spPr>
      </p:pic>
      <p:sp>
        <p:nvSpPr>
          <p:cNvPr id="9100" name="Scrim">
            <a:extLst>
              <a:ext uri="{FF2B5EF4-FFF2-40B4-BE49-F238E27FC236}">
                <a16:creationId xmlns:a16="http://schemas.microsoft.com/office/drawing/2014/main" id="{FD9E59D7-61FF-A764-C2C7-D97251986BA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1" name="ContentsKicker">
            <a:extLst>
              <a:ext uri="{FF2B5EF4-FFF2-40B4-BE49-F238E27FC236}">
                <a16:creationId xmlns:a16="http://schemas.microsoft.com/office/drawing/2014/main" id="{C320BE49-8670-5179-FA4B-DA7D4105E1AB}"/>
              </a:ext>
            </a:extLst>
          </p:cNvPr>
          <p:cNvSpPr txBox="1"/>
          <p:nvPr/>
        </p:nvSpPr>
        <p:spPr>
          <a:xfrm>
            <a:off x="777240" y="47548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i="0" spc="220" dirty="0">
                <a:solidFill>
                  <a:srgbClr val="58C5BD"/>
                </a:solidFill>
                <a:latin typeface="Arial"/>
                <a:cs typeface="Arial"/>
              </a:rPr>
              <a:t>NAVIGATE  —  CLICK ANY TOPIC TO JUMP TO IT</a:t>
            </a:r>
          </a:p>
        </p:txBody>
      </p:sp>
      <p:sp>
        <p:nvSpPr>
          <p:cNvPr id="9102" name="ContentsTitle">
            <a:extLst>
              <a:ext uri="{FF2B5EF4-FFF2-40B4-BE49-F238E27FC236}">
                <a16:creationId xmlns:a16="http://schemas.microsoft.com/office/drawing/2014/main" id="{01EEBBC2-8AAB-93FD-6AFA-ADB645EA7523}"/>
              </a:ext>
            </a:extLst>
          </p:cNvPr>
          <p:cNvSpPr txBox="1"/>
          <p:nvPr/>
        </p:nvSpPr>
        <p:spPr>
          <a:xfrm>
            <a:off x="777240" y="7772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/>
                <a:cs typeface="Cambria"/>
              </a:rPr>
              <a:t>Task 1</a:t>
            </a:r>
            <a:endParaRPr lang="en-US" sz="4000" b="1" i="0" spc="0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9103" name="TitleRule">
            <a:extLst>
              <a:ext uri="{FF2B5EF4-FFF2-40B4-BE49-F238E27FC236}">
                <a16:creationId xmlns:a16="http://schemas.microsoft.com/office/drawing/2014/main" id="{C2FBFDE4-6E95-A109-4649-20AF9B9E9AA2}"/>
              </a:ext>
            </a:extLst>
          </p:cNvPr>
          <p:cNvSpPr/>
          <p:nvPr/>
        </p:nvSpPr>
        <p:spPr>
          <a:xfrm>
            <a:off x="795528" y="1517904"/>
            <a:ext cx="1371600" cy="41148"/>
          </a:xfrm>
          <a:prstGeom prst="rect">
            <a:avLst/>
          </a:prstGeom>
          <a:solidFill>
            <a:srgbClr val="E8763A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0" name="TopicLink1">
            <a:hlinkClick r:id="rId3" action="ppaction://hlinksldjump"/>
            <a:extLst>
              <a:ext uri="{FF2B5EF4-FFF2-40B4-BE49-F238E27FC236}">
                <a16:creationId xmlns:a16="http://schemas.microsoft.com/office/drawing/2014/main" id="{D5BA7C86-E8F4-99F2-9101-B413C07A09D1}"/>
              </a:ext>
            </a:extLst>
          </p:cNvPr>
          <p:cNvSpPr/>
          <p:nvPr/>
        </p:nvSpPr>
        <p:spPr>
          <a:xfrm>
            <a:off x="777240" y="1810512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01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Problem Statement</a:t>
            </a:r>
          </a:p>
        </p:txBody>
      </p:sp>
      <p:sp>
        <p:nvSpPr>
          <p:cNvPr id="9111" name="TopicLink2">
            <a:hlinkClick r:id="rId4" action="ppaction://hlinksldjump"/>
            <a:extLst>
              <a:ext uri="{FF2B5EF4-FFF2-40B4-BE49-F238E27FC236}">
                <a16:creationId xmlns:a16="http://schemas.microsoft.com/office/drawing/2014/main" id="{0F264514-B001-D78C-E1A2-DB775751B9ED}"/>
              </a:ext>
            </a:extLst>
          </p:cNvPr>
          <p:cNvSpPr/>
          <p:nvPr/>
        </p:nvSpPr>
        <p:spPr>
          <a:xfrm>
            <a:off x="777240" y="2468880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02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Domain &amp; Dataset Selection</a:t>
            </a:r>
          </a:p>
        </p:txBody>
      </p:sp>
      <p:sp>
        <p:nvSpPr>
          <p:cNvPr id="9500" name="NavPrev">
            <a:hlinkClick r:id="rId5" action="ppaction://hlinksldjump"/>
            <a:extLst>
              <a:ext uri="{FF2B5EF4-FFF2-40B4-BE49-F238E27FC236}">
                <a16:creationId xmlns:a16="http://schemas.microsoft.com/office/drawing/2014/main" id="{A96DD719-1659-02E4-C28D-99A9B8EED5B0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2" name="NavNext">
            <a:hlinkClick r:id="rId3" action="ppaction://hlinksldjump"/>
            <a:extLst>
              <a:ext uri="{FF2B5EF4-FFF2-40B4-BE49-F238E27FC236}">
                <a16:creationId xmlns:a16="http://schemas.microsoft.com/office/drawing/2014/main" id="{53DACDEF-8A7B-9C27-F2CC-E3F4EC471A55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F99E8C8-1520-01C2-1D65-D7AFBC4C7A83}"/>
              </a:ext>
            </a:extLst>
          </p:cNvPr>
          <p:cNvSpPr/>
          <p:nvPr/>
        </p:nvSpPr>
        <p:spPr>
          <a:xfrm>
            <a:off x="9801572" y="896554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8380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E8B7-6DA4-40E3-FDEB-C4644BD4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A825B572-4434-AF44-EBBC-460B104F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5" t="23339" r="155" b="-11755"/>
          <a:stretch>
            <a:fillRect/>
          </a:stretch>
        </p:blipFill>
        <p:spPr>
          <a:xfrm>
            <a:off x="-18907" y="0"/>
            <a:ext cx="12209016" cy="7909560"/>
          </a:xfrm>
          <a:prstGeom prst="rect">
            <a:avLst/>
          </a:prstGeom>
        </p:spPr>
      </p:pic>
      <p:sp>
        <p:nvSpPr>
          <p:cNvPr id="9100" name="Scrim">
            <a:extLst>
              <a:ext uri="{FF2B5EF4-FFF2-40B4-BE49-F238E27FC236}">
                <a16:creationId xmlns:a16="http://schemas.microsoft.com/office/drawing/2014/main" id="{9CDCF4B4-18A6-AE9F-491B-3A4DE7F6279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1" name="ContentsKicker">
            <a:extLst>
              <a:ext uri="{FF2B5EF4-FFF2-40B4-BE49-F238E27FC236}">
                <a16:creationId xmlns:a16="http://schemas.microsoft.com/office/drawing/2014/main" id="{C8CD2B5D-6C28-8B00-025E-CD6DBE7459C1}"/>
              </a:ext>
            </a:extLst>
          </p:cNvPr>
          <p:cNvSpPr txBox="1"/>
          <p:nvPr/>
        </p:nvSpPr>
        <p:spPr>
          <a:xfrm>
            <a:off x="777240" y="47548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i="0" spc="220" dirty="0">
                <a:solidFill>
                  <a:srgbClr val="58C5BD"/>
                </a:solidFill>
                <a:latin typeface="Arial"/>
                <a:cs typeface="Arial"/>
              </a:rPr>
              <a:t>NAVIGATE  —  CLICK ANY TOPIC TO JUMP TO IT</a:t>
            </a:r>
          </a:p>
        </p:txBody>
      </p:sp>
      <p:sp>
        <p:nvSpPr>
          <p:cNvPr id="9102" name="ContentsTitle">
            <a:extLst>
              <a:ext uri="{FF2B5EF4-FFF2-40B4-BE49-F238E27FC236}">
                <a16:creationId xmlns:a16="http://schemas.microsoft.com/office/drawing/2014/main" id="{98B87524-66C5-F134-35A3-68FCA44E24C3}"/>
              </a:ext>
            </a:extLst>
          </p:cNvPr>
          <p:cNvSpPr txBox="1"/>
          <p:nvPr/>
        </p:nvSpPr>
        <p:spPr>
          <a:xfrm>
            <a:off x="777240" y="7772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4000" b="1" i="0" spc="0" dirty="0">
                <a:solidFill>
                  <a:srgbClr val="FFFFFF"/>
                </a:solidFill>
                <a:latin typeface="Cambria"/>
                <a:cs typeface="Cambria"/>
              </a:rPr>
              <a:t>Task 2</a:t>
            </a:r>
          </a:p>
        </p:txBody>
      </p:sp>
      <p:sp>
        <p:nvSpPr>
          <p:cNvPr id="9103" name="TitleRule">
            <a:extLst>
              <a:ext uri="{FF2B5EF4-FFF2-40B4-BE49-F238E27FC236}">
                <a16:creationId xmlns:a16="http://schemas.microsoft.com/office/drawing/2014/main" id="{390DCE29-FC30-1474-77A7-7AFD90059E78}"/>
              </a:ext>
            </a:extLst>
          </p:cNvPr>
          <p:cNvSpPr/>
          <p:nvPr/>
        </p:nvSpPr>
        <p:spPr>
          <a:xfrm>
            <a:off x="795528" y="1517904"/>
            <a:ext cx="1371600" cy="41148"/>
          </a:xfrm>
          <a:prstGeom prst="rect">
            <a:avLst/>
          </a:prstGeom>
          <a:solidFill>
            <a:srgbClr val="E8763A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2" name="TopicLink3">
            <a:hlinkClick r:id="rId3" action="ppaction://hlinksldjump"/>
            <a:extLst>
              <a:ext uri="{FF2B5EF4-FFF2-40B4-BE49-F238E27FC236}">
                <a16:creationId xmlns:a16="http://schemas.microsoft.com/office/drawing/2014/main" id="{A25F2BAF-D644-642E-35FE-4ED050DEFCE0}"/>
              </a:ext>
            </a:extLst>
          </p:cNvPr>
          <p:cNvSpPr/>
          <p:nvPr/>
        </p:nvSpPr>
        <p:spPr>
          <a:xfrm>
            <a:off x="777240" y="1790060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01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Data Loading &amp; Initial Overview</a:t>
            </a:r>
          </a:p>
        </p:txBody>
      </p:sp>
      <p:sp>
        <p:nvSpPr>
          <p:cNvPr id="9113" name="TopicLink4">
            <a:hlinkClick r:id="rId4" action="ppaction://hlinksldjump"/>
            <a:extLst>
              <a:ext uri="{FF2B5EF4-FFF2-40B4-BE49-F238E27FC236}">
                <a16:creationId xmlns:a16="http://schemas.microsoft.com/office/drawing/2014/main" id="{7C45048B-D4BF-1CBF-EA6D-5EC89CFF23FE}"/>
              </a:ext>
            </a:extLst>
          </p:cNvPr>
          <p:cNvSpPr/>
          <p:nvPr/>
        </p:nvSpPr>
        <p:spPr>
          <a:xfrm>
            <a:off x="777240" y="2448428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02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Cleaning Checks</a:t>
            </a:r>
          </a:p>
        </p:txBody>
      </p:sp>
      <p:sp>
        <p:nvSpPr>
          <p:cNvPr id="9114" name="TopicLink5">
            <a:hlinkClick r:id="rId5" action="ppaction://hlinksldjump"/>
            <a:extLst>
              <a:ext uri="{FF2B5EF4-FFF2-40B4-BE49-F238E27FC236}">
                <a16:creationId xmlns:a16="http://schemas.microsoft.com/office/drawing/2014/main" id="{94F1CDC8-CB26-3D19-27E5-77F310D48D4F}"/>
              </a:ext>
            </a:extLst>
          </p:cNvPr>
          <p:cNvSpPr/>
          <p:nvPr/>
        </p:nvSpPr>
        <p:spPr>
          <a:xfrm>
            <a:off x="777240" y="3106796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03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Derived Columns</a:t>
            </a:r>
          </a:p>
        </p:txBody>
      </p:sp>
      <p:sp>
        <p:nvSpPr>
          <p:cNvPr id="9115" name="TopicLink6">
            <a:hlinkClick r:id="rId6" action="ppaction://hlinksldjump"/>
            <a:extLst>
              <a:ext uri="{FF2B5EF4-FFF2-40B4-BE49-F238E27FC236}">
                <a16:creationId xmlns:a16="http://schemas.microsoft.com/office/drawing/2014/main" id="{EA57DA57-4591-58B3-8F05-9361423CA7E5}"/>
              </a:ext>
            </a:extLst>
          </p:cNvPr>
          <p:cNvSpPr/>
          <p:nvPr/>
        </p:nvSpPr>
        <p:spPr>
          <a:xfrm>
            <a:off x="777240" y="3765164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04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Aggregation: Ship Type Summary</a:t>
            </a:r>
          </a:p>
        </p:txBody>
      </p:sp>
      <p:sp>
        <p:nvSpPr>
          <p:cNvPr id="9116" name="TopicLink7">
            <a:hlinkClick r:id="rId7" action="ppaction://hlinksldjump"/>
            <a:extLst>
              <a:ext uri="{FF2B5EF4-FFF2-40B4-BE49-F238E27FC236}">
                <a16:creationId xmlns:a16="http://schemas.microsoft.com/office/drawing/2014/main" id="{1EB3E865-B922-09CD-8CED-23431D70D157}"/>
              </a:ext>
            </a:extLst>
          </p:cNvPr>
          <p:cNvSpPr/>
          <p:nvPr/>
        </p:nvSpPr>
        <p:spPr>
          <a:xfrm>
            <a:off x="777240" y="4423532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05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Summary &amp; Next Steps</a:t>
            </a:r>
          </a:p>
        </p:txBody>
      </p:sp>
      <p:sp>
        <p:nvSpPr>
          <p:cNvPr id="9500" name="NavPrev">
            <a:hlinkClick r:id="rId8" action="ppaction://hlinksldjump"/>
            <a:extLst>
              <a:ext uri="{FF2B5EF4-FFF2-40B4-BE49-F238E27FC236}">
                <a16:creationId xmlns:a16="http://schemas.microsoft.com/office/drawing/2014/main" id="{09A9F6A3-C523-88B3-0CE0-C85F5CDBF042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2" name="NavNext">
            <a:hlinkClick r:id="rId9" action="ppaction://hlinksldjump"/>
            <a:extLst>
              <a:ext uri="{FF2B5EF4-FFF2-40B4-BE49-F238E27FC236}">
                <a16:creationId xmlns:a16="http://schemas.microsoft.com/office/drawing/2014/main" id="{6AA10B42-42CC-F528-7898-9D211A897A1A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6B19B8AB-555D-49A2-E598-CFAC9582A5F3}"/>
              </a:ext>
            </a:extLst>
          </p:cNvPr>
          <p:cNvSpPr/>
          <p:nvPr/>
        </p:nvSpPr>
        <p:spPr>
          <a:xfrm>
            <a:off x="9801572" y="896554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7157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074E4-E684-B933-3005-1A737D40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C446F270-AAE7-FE70-C893-7A5E3FCD1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5" t="23339" r="155" b="-11755"/>
          <a:stretch>
            <a:fillRect/>
          </a:stretch>
        </p:blipFill>
        <p:spPr>
          <a:xfrm>
            <a:off x="-18907" y="0"/>
            <a:ext cx="12209016" cy="7909560"/>
          </a:xfrm>
          <a:prstGeom prst="rect">
            <a:avLst/>
          </a:prstGeom>
        </p:spPr>
      </p:pic>
      <p:sp>
        <p:nvSpPr>
          <p:cNvPr id="9100" name="Scrim">
            <a:extLst>
              <a:ext uri="{FF2B5EF4-FFF2-40B4-BE49-F238E27FC236}">
                <a16:creationId xmlns:a16="http://schemas.microsoft.com/office/drawing/2014/main" id="{C526D304-CFEF-7F98-753F-A940FCF99B7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1" name="ContentsKicker">
            <a:extLst>
              <a:ext uri="{FF2B5EF4-FFF2-40B4-BE49-F238E27FC236}">
                <a16:creationId xmlns:a16="http://schemas.microsoft.com/office/drawing/2014/main" id="{54E78574-C851-1F32-8FFA-C93F4CB245AD}"/>
              </a:ext>
            </a:extLst>
          </p:cNvPr>
          <p:cNvSpPr txBox="1"/>
          <p:nvPr/>
        </p:nvSpPr>
        <p:spPr>
          <a:xfrm>
            <a:off x="777240" y="47548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i="0" spc="220" dirty="0">
                <a:solidFill>
                  <a:srgbClr val="58C5BD"/>
                </a:solidFill>
                <a:latin typeface="Arial"/>
                <a:cs typeface="Arial"/>
              </a:rPr>
              <a:t>NAVIGATE  —  CLICK ANY TOPIC TO JUMP TO IT</a:t>
            </a:r>
          </a:p>
        </p:txBody>
      </p:sp>
      <p:sp>
        <p:nvSpPr>
          <p:cNvPr id="9102" name="ContentsTitle">
            <a:extLst>
              <a:ext uri="{FF2B5EF4-FFF2-40B4-BE49-F238E27FC236}">
                <a16:creationId xmlns:a16="http://schemas.microsoft.com/office/drawing/2014/main" id="{E5B2597A-89F2-F535-5E90-9819895C06F1}"/>
              </a:ext>
            </a:extLst>
          </p:cNvPr>
          <p:cNvSpPr txBox="1"/>
          <p:nvPr/>
        </p:nvSpPr>
        <p:spPr>
          <a:xfrm>
            <a:off x="777240" y="7772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4000" b="1" i="0" spc="0" dirty="0">
                <a:solidFill>
                  <a:srgbClr val="FFFFFF"/>
                </a:solidFill>
                <a:latin typeface="Cambria"/>
                <a:cs typeface="Cambria"/>
              </a:rPr>
              <a:t>Task 3</a:t>
            </a:r>
          </a:p>
        </p:txBody>
      </p:sp>
      <p:sp>
        <p:nvSpPr>
          <p:cNvPr id="9103" name="TitleRule">
            <a:extLst>
              <a:ext uri="{FF2B5EF4-FFF2-40B4-BE49-F238E27FC236}">
                <a16:creationId xmlns:a16="http://schemas.microsoft.com/office/drawing/2014/main" id="{7FC6D348-121E-8B58-53FA-6186D78EEDD0}"/>
              </a:ext>
            </a:extLst>
          </p:cNvPr>
          <p:cNvSpPr/>
          <p:nvPr/>
        </p:nvSpPr>
        <p:spPr>
          <a:xfrm>
            <a:off x="795528" y="1517904"/>
            <a:ext cx="1371600" cy="41148"/>
          </a:xfrm>
          <a:prstGeom prst="rect">
            <a:avLst/>
          </a:prstGeom>
          <a:solidFill>
            <a:srgbClr val="E8763A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2" name="TopicLink3">
            <a:hlinkClick r:id="rId3" action="ppaction://hlinksldjump"/>
            <a:extLst>
              <a:ext uri="{FF2B5EF4-FFF2-40B4-BE49-F238E27FC236}">
                <a16:creationId xmlns:a16="http://schemas.microsoft.com/office/drawing/2014/main" id="{1C19A214-6821-92EC-5D01-E5EBE9FC7B5F}"/>
              </a:ext>
            </a:extLst>
          </p:cNvPr>
          <p:cNvSpPr/>
          <p:nvPr/>
        </p:nvSpPr>
        <p:spPr>
          <a:xfrm>
            <a:off x="777240" y="1790060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01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EDA Approach</a:t>
            </a:r>
          </a:p>
        </p:txBody>
      </p:sp>
      <p:sp>
        <p:nvSpPr>
          <p:cNvPr id="9113" name="TopicLink4">
            <a:hlinkClick r:id="rId4" action="ppaction://hlinksldjump"/>
            <a:extLst>
              <a:ext uri="{FF2B5EF4-FFF2-40B4-BE49-F238E27FC236}">
                <a16:creationId xmlns:a16="http://schemas.microsoft.com/office/drawing/2014/main" id="{346F8B09-E946-F06B-18DB-134EBD8AB450}"/>
              </a:ext>
            </a:extLst>
          </p:cNvPr>
          <p:cNvSpPr/>
          <p:nvPr/>
        </p:nvSpPr>
        <p:spPr>
          <a:xfrm>
            <a:off x="777240" y="2448428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02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Univariate Analysis</a:t>
            </a:r>
          </a:p>
        </p:txBody>
      </p:sp>
      <p:sp>
        <p:nvSpPr>
          <p:cNvPr id="9114" name="TopicLink5">
            <a:hlinkClick r:id="rId5" action="ppaction://hlinksldjump"/>
            <a:extLst>
              <a:ext uri="{FF2B5EF4-FFF2-40B4-BE49-F238E27FC236}">
                <a16:creationId xmlns:a16="http://schemas.microsoft.com/office/drawing/2014/main" id="{7ADF5F76-33D8-0077-6F88-001DF049A684}"/>
              </a:ext>
            </a:extLst>
          </p:cNvPr>
          <p:cNvSpPr/>
          <p:nvPr/>
        </p:nvSpPr>
        <p:spPr>
          <a:xfrm>
            <a:off x="777240" y="3106796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03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Arial"/>
              </a:rPr>
              <a:t>Bivariate Analysis</a:t>
            </a:r>
            <a:endParaRPr lang="en-US" sz="1600" b="1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9115" name="TopicLink6">
            <a:hlinkClick r:id="rId6" action="ppaction://hlinksldjump"/>
            <a:extLst>
              <a:ext uri="{FF2B5EF4-FFF2-40B4-BE49-F238E27FC236}">
                <a16:creationId xmlns:a16="http://schemas.microsoft.com/office/drawing/2014/main" id="{09AFBE78-D24F-EA1A-9795-61E2D43AE09D}"/>
              </a:ext>
            </a:extLst>
          </p:cNvPr>
          <p:cNvSpPr/>
          <p:nvPr/>
        </p:nvSpPr>
        <p:spPr>
          <a:xfrm>
            <a:off x="777240" y="3765164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04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Multivariate Analysis</a:t>
            </a:r>
          </a:p>
        </p:txBody>
      </p:sp>
      <p:sp>
        <p:nvSpPr>
          <p:cNvPr id="9500" name="NavPrev">
            <a:hlinkClick r:id="rId7" action="ppaction://hlinksldjump"/>
            <a:extLst>
              <a:ext uri="{FF2B5EF4-FFF2-40B4-BE49-F238E27FC236}">
                <a16:creationId xmlns:a16="http://schemas.microsoft.com/office/drawing/2014/main" id="{C9061ACC-1AED-5139-8314-348B7408370E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2" name="NavNext">
            <a:hlinkClick r:id="rId8" action="ppaction://hlinksldjump"/>
            <a:extLst>
              <a:ext uri="{FF2B5EF4-FFF2-40B4-BE49-F238E27FC236}">
                <a16:creationId xmlns:a16="http://schemas.microsoft.com/office/drawing/2014/main" id="{0D6CA0F7-B8FA-5949-DB7B-2DA63DA98C89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E14901A3-84F9-450E-4DA0-F66913EB462D}"/>
              </a:ext>
            </a:extLst>
          </p:cNvPr>
          <p:cNvSpPr/>
          <p:nvPr/>
        </p:nvSpPr>
        <p:spPr>
          <a:xfrm>
            <a:off x="9801572" y="896554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0288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E5BAA-8D1A-6546-C227-B881FFBA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74F056F-2FC9-BAC7-24B6-7530D1447D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5" t="23339" r="155" b="-11755"/>
          <a:stretch>
            <a:fillRect/>
          </a:stretch>
        </p:blipFill>
        <p:spPr>
          <a:xfrm>
            <a:off x="-18907" y="0"/>
            <a:ext cx="12209016" cy="7909560"/>
          </a:xfrm>
          <a:prstGeom prst="rect">
            <a:avLst/>
          </a:prstGeom>
        </p:spPr>
      </p:pic>
      <p:sp>
        <p:nvSpPr>
          <p:cNvPr id="9100" name="Scrim">
            <a:extLst>
              <a:ext uri="{FF2B5EF4-FFF2-40B4-BE49-F238E27FC236}">
                <a16:creationId xmlns:a16="http://schemas.microsoft.com/office/drawing/2014/main" id="{FD7E4058-C8F4-EDEE-8950-E8BF8A53C4C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F">
              <a:alpha val="6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1" name="ContentsKicker">
            <a:extLst>
              <a:ext uri="{FF2B5EF4-FFF2-40B4-BE49-F238E27FC236}">
                <a16:creationId xmlns:a16="http://schemas.microsoft.com/office/drawing/2014/main" id="{EA4D115B-CB4B-786A-E430-004CB0637FB0}"/>
              </a:ext>
            </a:extLst>
          </p:cNvPr>
          <p:cNvSpPr txBox="1"/>
          <p:nvPr/>
        </p:nvSpPr>
        <p:spPr>
          <a:xfrm>
            <a:off x="777240" y="47548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i="0" spc="220" dirty="0">
                <a:solidFill>
                  <a:srgbClr val="58C5BD"/>
                </a:solidFill>
                <a:latin typeface="Arial"/>
                <a:cs typeface="Arial"/>
              </a:rPr>
              <a:t>NAVIGATE  —  CLICK ANY TOPIC TO JUMP TO IT</a:t>
            </a:r>
          </a:p>
        </p:txBody>
      </p:sp>
      <p:sp>
        <p:nvSpPr>
          <p:cNvPr id="9102" name="ContentsTitle">
            <a:extLst>
              <a:ext uri="{FF2B5EF4-FFF2-40B4-BE49-F238E27FC236}">
                <a16:creationId xmlns:a16="http://schemas.microsoft.com/office/drawing/2014/main" id="{03676A85-0136-F478-1298-C7FF27BB722F}"/>
              </a:ext>
            </a:extLst>
          </p:cNvPr>
          <p:cNvSpPr txBox="1"/>
          <p:nvPr/>
        </p:nvSpPr>
        <p:spPr>
          <a:xfrm>
            <a:off x="777240" y="7772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4000" b="1" i="0" spc="0" dirty="0">
                <a:solidFill>
                  <a:srgbClr val="FFFFFF"/>
                </a:solidFill>
                <a:latin typeface="Cambria"/>
                <a:cs typeface="Cambria"/>
              </a:rPr>
              <a:t>Task 4</a:t>
            </a:r>
          </a:p>
        </p:txBody>
      </p:sp>
      <p:sp>
        <p:nvSpPr>
          <p:cNvPr id="9103" name="TitleRule">
            <a:extLst>
              <a:ext uri="{FF2B5EF4-FFF2-40B4-BE49-F238E27FC236}">
                <a16:creationId xmlns:a16="http://schemas.microsoft.com/office/drawing/2014/main" id="{32BB0374-38CD-F301-FB37-75C412C75C20}"/>
              </a:ext>
            </a:extLst>
          </p:cNvPr>
          <p:cNvSpPr/>
          <p:nvPr/>
        </p:nvSpPr>
        <p:spPr>
          <a:xfrm>
            <a:off x="795528" y="1517904"/>
            <a:ext cx="1371600" cy="41148"/>
          </a:xfrm>
          <a:prstGeom prst="rect">
            <a:avLst/>
          </a:prstGeom>
          <a:solidFill>
            <a:srgbClr val="E8763A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2" name="TopicLink3">
            <a:hlinkClick r:id="rId3" action="ppaction://hlinksldjump"/>
            <a:extLst>
              <a:ext uri="{FF2B5EF4-FFF2-40B4-BE49-F238E27FC236}">
                <a16:creationId xmlns:a16="http://schemas.microsoft.com/office/drawing/2014/main" id="{C21BA3EB-42AF-0853-979A-184E6F9112E0}"/>
              </a:ext>
            </a:extLst>
          </p:cNvPr>
          <p:cNvSpPr/>
          <p:nvPr/>
        </p:nvSpPr>
        <p:spPr>
          <a:xfrm>
            <a:off x="777240" y="1790060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01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GB" sz="1600" b="1" dirty="0">
                <a:solidFill>
                  <a:srgbClr val="FFFFFF"/>
                </a:solidFill>
                <a:latin typeface="Cambria"/>
                <a:cs typeface="Cambria"/>
              </a:rPr>
              <a:t>Headline Finding: Tanker Ships Drive Fuel &amp; Emissions</a:t>
            </a:r>
          </a:p>
        </p:txBody>
      </p:sp>
      <p:sp>
        <p:nvSpPr>
          <p:cNvPr id="9113" name="TopicLink4">
            <a:hlinkClick r:id="rId4" action="ppaction://hlinksldjump"/>
            <a:extLst>
              <a:ext uri="{FF2B5EF4-FFF2-40B4-BE49-F238E27FC236}">
                <a16:creationId xmlns:a16="http://schemas.microsoft.com/office/drawing/2014/main" id="{44731B16-D998-0363-BAAB-C78522C59D66}"/>
              </a:ext>
            </a:extLst>
          </p:cNvPr>
          <p:cNvSpPr/>
          <p:nvPr/>
        </p:nvSpPr>
        <p:spPr>
          <a:xfrm>
            <a:off x="777240" y="2448428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02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Cambria"/>
              </a:rPr>
              <a:t>Key Insights </a:t>
            </a:r>
          </a:p>
        </p:txBody>
      </p:sp>
      <p:sp>
        <p:nvSpPr>
          <p:cNvPr id="9114" name="TopicLink5">
            <a:hlinkClick r:id="rId5" action="ppaction://hlinksldjump"/>
            <a:extLst>
              <a:ext uri="{FF2B5EF4-FFF2-40B4-BE49-F238E27FC236}">
                <a16:creationId xmlns:a16="http://schemas.microsoft.com/office/drawing/2014/main" id="{65B6C413-093B-AFF4-FD46-4DDFC743DEC6}"/>
              </a:ext>
            </a:extLst>
          </p:cNvPr>
          <p:cNvSpPr/>
          <p:nvPr/>
        </p:nvSpPr>
        <p:spPr>
          <a:xfrm>
            <a:off x="777240" y="3106796"/>
            <a:ext cx="10634472" cy="548640"/>
          </a:xfrm>
          <a:prstGeom prst="roundRect">
            <a:avLst>
              <a:gd name="adj" fmla="val 16000"/>
            </a:avLst>
          </a:prstGeom>
          <a:solidFill>
            <a:srgbClr val="061826">
              <a:alpha val="60000"/>
            </a:srgbClr>
          </a:solidFill>
          <a:ln w="9525">
            <a:solidFill>
              <a:srgbClr val="58C5BD">
                <a:alpha val="55000"/>
              </a:srgbClr>
            </a:solidFill>
          </a:ln>
        </p:spPr>
        <p:txBody>
          <a:bodyPr wrap="square" lIns="228600" tIns="0" rIns="228600" bIns="0" anchor="ctr"/>
          <a:lstStyle/>
          <a:p>
            <a:pPr algn="l">
              <a:buNone/>
            </a:pPr>
            <a:r>
              <a:rPr lang="en-US" sz="1400" b="1" spc="120" dirty="0">
                <a:solidFill>
                  <a:srgbClr val="E8763A"/>
                </a:solidFill>
                <a:latin typeface="Arial"/>
                <a:cs typeface="Arial"/>
              </a:rPr>
              <a:t>03</a:t>
            </a:r>
            <a:r>
              <a:rPr lang="en-US" sz="1400" b="1" dirty="0">
                <a:solidFill>
                  <a:srgbClr val="E8763A"/>
                </a:solidFill>
                <a:latin typeface="Arial"/>
                <a:cs typeface="Arial"/>
              </a:rPr>
              <a:t>     </a:t>
            </a:r>
            <a:r>
              <a:rPr lang="en-US" sz="1600" b="1" dirty="0">
                <a:solidFill>
                  <a:srgbClr val="FFFFFF"/>
                </a:solidFill>
                <a:latin typeface="Cambria"/>
                <a:cs typeface="Arial"/>
              </a:rPr>
              <a:t>Recommendations &amp; Next Steps</a:t>
            </a:r>
          </a:p>
        </p:txBody>
      </p:sp>
      <p:sp>
        <p:nvSpPr>
          <p:cNvPr id="9500" name="NavPrev">
            <a:hlinkClick r:id="rId6" action="ppaction://hlinksldjump"/>
            <a:extLst>
              <a:ext uri="{FF2B5EF4-FFF2-40B4-BE49-F238E27FC236}">
                <a16:creationId xmlns:a16="http://schemas.microsoft.com/office/drawing/2014/main" id="{A8D33A4B-44FF-3D03-745B-3B8D92C27A1F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2" name="NavNext">
            <a:hlinkClick r:id="rId7" action="ppaction://hlinksldjump"/>
            <a:extLst>
              <a:ext uri="{FF2B5EF4-FFF2-40B4-BE49-F238E27FC236}">
                <a16:creationId xmlns:a16="http://schemas.microsoft.com/office/drawing/2014/main" id="{7946F1FE-011A-FB34-6E45-1BCF81BF244B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985DAACF-4DF6-784F-566E-F8A23DECB1A6}"/>
              </a:ext>
            </a:extLst>
          </p:cNvPr>
          <p:cNvSpPr/>
          <p:nvPr/>
        </p:nvSpPr>
        <p:spPr>
          <a:xfrm>
            <a:off x="9852262" y="889000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8780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A3294-D73B-202C-0DD7-9D7129E3B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8E32C-77E1-672D-4BDD-8EE0A6BC8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8A214-7C02-B12B-5DFB-8AAA732017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06" b="10230"/>
          <a:stretch>
            <a:fillRect/>
          </a:stretch>
        </p:blipFill>
        <p:spPr>
          <a:xfrm>
            <a:off x="-24329" y="0"/>
            <a:ext cx="12262286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58F5872F-A96E-B666-FD4D-DE9AFDFDC150}"/>
              </a:ext>
            </a:extLst>
          </p:cNvPr>
          <p:cNvSpPr txBox="1"/>
          <p:nvPr/>
        </p:nvSpPr>
        <p:spPr>
          <a:xfrm>
            <a:off x="548640" y="411480"/>
            <a:ext cx="1109472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1a : Problem Statement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F7A04B9-ECFC-7EC5-056E-80A0D82B4D6A}"/>
              </a:ext>
            </a:extLst>
          </p:cNvPr>
          <p:cNvSpPr txBox="1"/>
          <p:nvPr/>
        </p:nvSpPr>
        <p:spPr>
          <a:xfrm>
            <a:off x="548640" y="1144588"/>
            <a:ext cx="11094720" cy="153320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is the largest operating cost for a maritime fleet — and the main source of its CO₂ emissions.</a:t>
            </a:r>
            <a:endParaRPr lang="en-US" sz="2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E8682C8-045D-2709-EF83-5A14AEEA3E62}"/>
              </a:ext>
            </a:extLst>
          </p:cNvPr>
          <p:cNvSpPr txBox="1"/>
          <p:nvPr/>
        </p:nvSpPr>
        <p:spPr>
          <a:xfrm>
            <a:off x="548640" y="2675572"/>
            <a:ext cx="10972800" cy="722948"/>
          </a:xfrm>
          <a:prstGeom prst="rect">
            <a:avLst/>
          </a:prstGeom>
          <a:noFill/>
          <a:ln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This project analyzes 12 months of trip-level data to find out:</a:t>
            </a:r>
            <a:endParaRPr 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88717208-624C-C11C-3D2C-0B81FA4FDF80}"/>
              </a:ext>
            </a:extLst>
          </p:cNvPr>
          <p:cNvSpPr txBox="1"/>
          <p:nvPr/>
        </p:nvSpPr>
        <p:spPr>
          <a:xfrm>
            <a:off x="548640" y="3398520"/>
            <a:ext cx="7559040" cy="309435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Which ship types &amp; routes drive the most fuel use and CO₂ emissions?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How does weather affect fuel consumption and engine efficiency?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Does fuel type (HFO vs Diesel) change efficiency or emissions?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Is there a seasonal pattern in fuel use?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How are distance, fuel, CO₂, and efficiency related?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C8B731D2-0E3A-01CB-4D24-956F3C56A9E7}"/>
              </a:ext>
            </a:extLst>
          </p:cNvPr>
          <p:cNvSpPr txBox="1"/>
          <p:nvPr/>
        </p:nvSpPr>
        <p:spPr>
          <a:xfrm>
            <a:off x="8397240" y="3423126"/>
            <a:ext cx="3246120" cy="248071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buSzPct val="100000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>
              <a:spcAft>
                <a:spcPts val="1200"/>
              </a:spcAft>
              <a:buSzPct val="100000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Supports route planning, fuel budgeting, and maintenance prioritization for fleet operators.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ctr">
              <a:spcAft>
                <a:spcPts val="1200"/>
              </a:spcAft>
              <a:buSzPct val="100000"/>
              <a:buChar char="●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E5F88AE-AC35-C800-1DE9-5B17B0D1BBF7}"/>
              </a:ext>
            </a:extLst>
          </p:cNvPr>
          <p:cNvSpPr txBox="1"/>
          <p:nvPr/>
        </p:nvSpPr>
        <p:spPr>
          <a:xfrm>
            <a:off x="8915400" y="36763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500" name="NavPrev">
            <a:hlinkClick r:id="rId3" action="ppaction://hlinksldjump"/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3" action="ppaction://hlinksldjump"/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9502" name="NavNext">
            <a:hlinkClick r:id="rId4" action="ppaction://hlinksldjump"/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6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FB1D6DD4-EAD8-54DA-B6BB-6630FCCFDB53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201503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21E0DD3-3B17-439D-4CB4-5F31276FF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756A0818-EC97-F1EA-C9CC-9433EB8D9D53}"/>
              </a:ext>
            </a:extLst>
          </p:cNvPr>
          <p:cNvSpPr txBox="1"/>
          <p:nvPr/>
        </p:nvSpPr>
        <p:spPr>
          <a:xfrm>
            <a:off x="548640" y="411480"/>
            <a:ext cx="1109472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1b — Domain &amp; Dataset Selection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9EE5BFE5-5D4B-72BC-72E3-B8391E23A9D0}"/>
              </a:ext>
            </a:extLst>
          </p:cNvPr>
          <p:cNvSpPr txBox="1"/>
          <p:nvPr/>
        </p:nvSpPr>
        <p:spPr>
          <a:xfrm>
            <a:off x="548640" y="1144589"/>
            <a:ext cx="7559040" cy="6299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Domain: Environmental / Operations</a:t>
            </a: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004FCA42-400A-ECFA-865E-97F0E6FE0BCA}"/>
              </a:ext>
            </a:extLst>
          </p:cNvPr>
          <p:cNvSpPr txBox="1"/>
          <p:nvPr/>
        </p:nvSpPr>
        <p:spPr>
          <a:xfrm>
            <a:off x="548640" y="3231832"/>
            <a:ext cx="10972800" cy="722948"/>
          </a:xfrm>
          <a:prstGeom prst="rect">
            <a:avLst/>
          </a:prstGeom>
          <a:noFill/>
          <a:ln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Why this dataset qualifies</a:t>
            </a: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E55D093C-4FAE-406C-8C43-84F7B2B22CE8}"/>
              </a:ext>
            </a:extLst>
          </p:cNvPr>
          <p:cNvSpPr txBox="1"/>
          <p:nvPr/>
        </p:nvSpPr>
        <p:spPr>
          <a:xfrm>
            <a:off x="548640" y="4042092"/>
            <a:ext cx="7559040" cy="245078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1,440 records (min. required: 500)</a:t>
            </a: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10 features (min. required: 10)</a:t>
            </a: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Mix of numeric (4) and categorical (6) columns</a:t>
            </a: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12 months of real trip-level history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4BDC58A2-0F4B-74F2-6EEB-6C2B524A5FDB}"/>
              </a:ext>
            </a:extLst>
          </p:cNvPr>
          <p:cNvSpPr txBox="1"/>
          <p:nvPr/>
        </p:nvSpPr>
        <p:spPr>
          <a:xfrm>
            <a:off x="8397240" y="1144590"/>
            <a:ext cx="3246120" cy="511706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342900" indent="-342900" algn="ctr">
              <a:spcAft>
                <a:spcPts val="1200"/>
              </a:spcAft>
              <a:buSzPct val="100000"/>
              <a:buChar char="●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738EAEBF-A970-76BB-1990-11F448761BFB}"/>
              </a:ext>
            </a:extLst>
          </p:cNvPr>
          <p:cNvSpPr txBox="1"/>
          <p:nvPr/>
        </p:nvSpPr>
        <p:spPr>
          <a:xfrm>
            <a:off x="8656320" y="123015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55591576-89CA-55A4-E928-81CF1C24E1A2}"/>
              </a:ext>
            </a:extLst>
          </p:cNvPr>
          <p:cNvSpPr txBox="1"/>
          <p:nvPr/>
        </p:nvSpPr>
        <p:spPr>
          <a:xfrm>
            <a:off x="548640" y="1925000"/>
            <a:ext cx="7559040" cy="13068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buSzPct val="100000"/>
            </a:pP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Transportation and emissions monitoring — directly relevant to naval architecture and marine operations decision-making, connecting the coursework to my own background.</a:t>
            </a: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31D3F2C2-7B9B-85A6-4651-C5716305B7CF}"/>
              </a:ext>
            </a:extLst>
          </p:cNvPr>
          <p:cNvSpPr txBox="1"/>
          <p:nvPr/>
        </p:nvSpPr>
        <p:spPr>
          <a:xfrm>
            <a:off x="8549640" y="2045415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types (4)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40BBC197-C02E-4E57-E241-A66455C10165}"/>
              </a:ext>
            </a:extLst>
          </p:cNvPr>
          <p:cNvSpPr txBox="1"/>
          <p:nvPr/>
        </p:nvSpPr>
        <p:spPr>
          <a:xfrm>
            <a:off x="8549640" y="2868375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(4)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72122924-E3C0-C9AB-F30F-5032871E57CC}"/>
              </a:ext>
            </a:extLst>
          </p:cNvPr>
          <p:cNvSpPr txBox="1"/>
          <p:nvPr/>
        </p:nvSpPr>
        <p:spPr>
          <a:xfrm>
            <a:off x="8549640" y="3691335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types (2)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A73A9157-A89D-478F-31AC-A648CD54CB5D}"/>
              </a:ext>
            </a:extLst>
          </p:cNvPr>
          <p:cNvSpPr txBox="1"/>
          <p:nvPr/>
        </p:nvSpPr>
        <p:spPr>
          <a:xfrm>
            <a:off x="8549640" y="4514295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(3)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29FD0956-7484-C4C7-040F-D3B031D3ED68}"/>
              </a:ext>
            </a:extLst>
          </p:cNvPr>
          <p:cNvSpPr txBox="1"/>
          <p:nvPr/>
        </p:nvSpPr>
        <p:spPr>
          <a:xfrm>
            <a:off x="8549640" y="5337255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fields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A18D29E1-A514-DE7D-476C-1E9AC78A9494}"/>
              </a:ext>
            </a:extLst>
          </p:cNvPr>
          <p:cNvSpPr txBox="1"/>
          <p:nvPr/>
        </p:nvSpPr>
        <p:spPr>
          <a:xfrm>
            <a:off x="9855200" y="2045414"/>
            <a:ext cx="1811020" cy="797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Service Boat, Fishing Trawler,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Surfer Boat, Tanker Ship</a:t>
            </a:r>
            <a:endParaRPr lang="en-US" sz="12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3DF5B6A3-89F6-C287-53EE-2B07826D334B}"/>
              </a:ext>
            </a:extLst>
          </p:cNvPr>
          <p:cNvSpPr txBox="1"/>
          <p:nvPr/>
        </p:nvSpPr>
        <p:spPr>
          <a:xfrm>
            <a:off x="9855200" y="2868374"/>
            <a:ext cx="1811020" cy="797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Warri-Bonny, Port Harcourt-Lagos,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Lagos-Apapa, Escravos-Lagos</a:t>
            </a:r>
            <a:endParaRPr lang="en-US" sz="12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9A3E43DB-E73B-1140-C732-7252820BE545}"/>
              </a:ext>
            </a:extLst>
          </p:cNvPr>
          <p:cNvSpPr txBox="1"/>
          <p:nvPr/>
        </p:nvSpPr>
        <p:spPr>
          <a:xfrm>
            <a:off x="9855200" y="3691334"/>
            <a:ext cx="1811020" cy="797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HFO, Diesel</a:t>
            </a:r>
            <a:endParaRPr lang="en-US" sz="12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D8C9795A-A5B4-1EC9-22A2-4933C188E244}"/>
              </a:ext>
            </a:extLst>
          </p:cNvPr>
          <p:cNvSpPr txBox="1"/>
          <p:nvPr/>
        </p:nvSpPr>
        <p:spPr>
          <a:xfrm>
            <a:off x="9855200" y="4514294"/>
            <a:ext cx="1811020" cy="797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Moderate, Stormy</a:t>
            </a:r>
            <a:endParaRPr lang="en-US" sz="120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9A0847BE-4F65-CA04-BD7A-E3C0EB9D8EF8}"/>
              </a:ext>
            </a:extLst>
          </p:cNvPr>
          <p:cNvSpPr txBox="1"/>
          <p:nvPr/>
        </p:nvSpPr>
        <p:spPr>
          <a:xfrm>
            <a:off x="9855200" y="5337254"/>
            <a:ext cx="1811020" cy="797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fuel_consumption,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CO2_emissions, engine_efficiency</a:t>
            </a:r>
            <a:endParaRPr lang="en-US" sz="1200" dirty="0"/>
          </a:p>
        </p:txBody>
      </p:sp>
      <p:sp>
        <p:nvSpPr>
          <p:cNvPr id="9500" name="NavPrev">
            <a:hlinkClick r:id="rId3" action="ppaction://hlinksldjump"/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4" action="ppaction://hlinksldjump"/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9502" name="NavNext">
            <a:hlinkClick r:id="rId5" action="ppaction://hlinksldjump"/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0B1A426-35C3-F639-7D34-70DA0E40D4CE}"/>
              </a:ext>
            </a:extLst>
          </p:cNvPr>
          <p:cNvSpPr/>
          <p:nvPr/>
        </p:nvSpPr>
        <p:spPr>
          <a:xfrm>
            <a:off x="9801572" y="6307372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7896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37109E-786C-689F-7656-551A88638B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45" b="12479"/>
          <a:stretch>
            <a:fillRect/>
          </a:stretch>
        </p:blipFill>
        <p:spPr>
          <a:xfrm>
            <a:off x="0" y="0"/>
            <a:ext cx="12212320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DBA9B13F-EE1C-0712-D6A2-A86084B18BB6}"/>
              </a:ext>
            </a:extLst>
          </p:cNvPr>
          <p:cNvSpPr txBox="1"/>
          <p:nvPr/>
        </p:nvSpPr>
        <p:spPr>
          <a:xfrm>
            <a:off x="548640" y="411480"/>
            <a:ext cx="11308080" cy="70104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2a — Data Loading &amp; Initial Overview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A9840BBB-0327-F30A-1FEF-D97794422E89}"/>
              </a:ext>
            </a:extLst>
          </p:cNvPr>
          <p:cNvSpPr/>
          <p:nvPr/>
        </p:nvSpPr>
        <p:spPr>
          <a:xfrm>
            <a:off x="548640" y="129540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dk1">
              <a:alpha val="50000"/>
            </a:scheme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68B9AFC-45D6-FCD3-E96C-26569956D3E6}"/>
              </a:ext>
            </a:extLst>
          </p:cNvPr>
          <p:cNvSpPr txBox="1"/>
          <p:nvPr/>
        </p:nvSpPr>
        <p:spPr>
          <a:xfrm>
            <a:off x="548640" y="1386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1,440</a:t>
            </a:r>
            <a:endParaRPr lang="en-US" sz="32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E9DE4DDA-3F5F-71BE-2F64-03C06F98267D}"/>
              </a:ext>
            </a:extLst>
          </p:cNvPr>
          <p:cNvSpPr txBox="1"/>
          <p:nvPr/>
        </p:nvSpPr>
        <p:spPr>
          <a:xfrm>
            <a:off x="548640" y="2072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0F66303D-9753-A598-17DF-DA95C9DC7FD2}"/>
              </a:ext>
            </a:extLst>
          </p:cNvPr>
          <p:cNvSpPr/>
          <p:nvPr/>
        </p:nvSpPr>
        <p:spPr>
          <a:xfrm>
            <a:off x="3383280" y="129540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dk1">
              <a:alpha val="50000"/>
            </a:scheme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0CB063C-E77F-69D7-0534-D45B9EA24761}"/>
              </a:ext>
            </a:extLst>
          </p:cNvPr>
          <p:cNvSpPr txBox="1"/>
          <p:nvPr/>
        </p:nvSpPr>
        <p:spPr>
          <a:xfrm>
            <a:off x="3383280" y="1386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572BB4EB-206D-F5A1-A4A4-E7FC67B9FD1D}"/>
              </a:ext>
            </a:extLst>
          </p:cNvPr>
          <p:cNvSpPr txBox="1"/>
          <p:nvPr/>
        </p:nvSpPr>
        <p:spPr>
          <a:xfrm>
            <a:off x="3383280" y="2072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D9C4276E-F66D-441C-D7F5-BAF37DC9B000}"/>
              </a:ext>
            </a:extLst>
          </p:cNvPr>
          <p:cNvSpPr/>
          <p:nvPr/>
        </p:nvSpPr>
        <p:spPr>
          <a:xfrm>
            <a:off x="6217920" y="129540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dk1">
              <a:alpha val="50000"/>
            </a:scheme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E4C03858-E462-DC49-89CD-60AC6161E6E1}"/>
              </a:ext>
            </a:extLst>
          </p:cNvPr>
          <p:cNvSpPr txBox="1"/>
          <p:nvPr/>
        </p:nvSpPr>
        <p:spPr>
          <a:xfrm>
            <a:off x="6217920" y="1386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B62A1A04-91C6-1788-DBDF-D14E3E6682D9}"/>
              </a:ext>
            </a:extLst>
          </p:cNvPr>
          <p:cNvSpPr txBox="1"/>
          <p:nvPr/>
        </p:nvSpPr>
        <p:spPr>
          <a:xfrm>
            <a:off x="6217920" y="2072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96AD9C6A-4299-309E-78F3-EFEDBC98C5E3}"/>
              </a:ext>
            </a:extLst>
          </p:cNvPr>
          <p:cNvSpPr/>
          <p:nvPr/>
        </p:nvSpPr>
        <p:spPr>
          <a:xfrm>
            <a:off x="9052560" y="129540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dk1">
              <a:alpha val="50000"/>
            </a:scheme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61CFDE1D-627E-6685-09BA-CA76D76C8C6A}"/>
              </a:ext>
            </a:extLst>
          </p:cNvPr>
          <p:cNvSpPr txBox="1"/>
          <p:nvPr/>
        </p:nvSpPr>
        <p:spPr>
          <a:xfrm>
            <a:off x="9052560" y="1386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24FA1EDC-B118-63D0-EDBA-C785CB040433}"/>
              </a:ext>
            </a:extLst>
          </p:cNvPr>
          <p:cNvSpPr txBox="1"/>
          <p:nvPr/>
        </p:nvSpPr>
        <p:spPr>
          <a:xfrm>
            <a:off x="9052560" y="2072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DB46532E-B602-466E-3C8B-7477BEFB8095}"/>
              </a:ext>
            </a:extLst>
          </p:cNvPr>
          <p:cNvSpPr/>
          <p:nvPr/>
        </p:nvSpPr>
        <p:spPr>
          <a:xfrm>
            <a:off x="548640" y="3383280"/>
            <a:ext cx="11064240" cy="2651760"/>
          </a:xfrm>
          <a:prstGeom prst="rect">
            <a:avLst/>
          </a:prstGeom>
          <a:gradFill>
            <a:gsLst>
              <a:gs pos="0">
                <a:schemeClr val="dk1">
                  <a:satMod val="103000"/>
                  <a:lumMod val="102000"/>
                  <a:tint val="94000"/>
                  <a:alpha val="62000"/>
                </a:schemeClr>
              </a:gs>
              <a:gs pos="50000">
                <a:schemeClr val="dk1">
                  <a:satMod val="110000"/>
                  <a:lumMod val="100000"/>
                  <a:shade val="100000"/>
                  <a:alpha val="62000"/>
                </a:schemeClr>
              </a:gs>
              <a:gs pos="100000">
                <a:schemeClr val="dk1">
                  <a:lumMod val="99000"/>
                  <a:satMod val="120000"/>
                  <a:shade val="78000"/>
                  <a:alpha val="60000"/>
                </a:schemeClr>
              </a:gs>
            </a:gsLst>
          </a:gra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E3351142-961A-FAE5-B8EC-246B3A9B5160}"/>
              </a:ext>
            </a:extLst>
          </p:cNvPr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used: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9F686FA1-EDE6-DAD2-9780-15047E373180}"/>
              </a:ext>
            </a:extLst>
          </p:cNvPr>
          <p:cNvSpPr txBox="1"/>
          <p:nvPr/>
        </p:nvSpPr>
        <p:spPr>
          <a:xfrm>
            <a:off x="868680" y="3566160"/>
            <a:ext cx="10424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pd.read_csv("ship_fuel_efficiency.csv")</a:t>
            </a:r>
            <a:endParaRPr lang="en-US" sz="1400" dirty="0">
              <a:solidFill>
                <a:srgbClr val="00B05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   # (1440, 10)</a:t>
            </a:r>
            <a:endParaRPr lang="en-US" sz="1400" dirty="0">
              <a:solidFill>
                <a:srgbClr val="00B05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400" dirty="0">
              <a:solidFill>
                <a:srgbClr val="00B05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400" dirty="0">
              <a:solidFill>
                <a:srgbClr val="00B05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      # numeric summary</a:t>
            </a:r>
            <a:endParaRPr lang="en-US" sz="1400" dirty="0">
              <a:solidFill>
                <a:srgbClr val="00B05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df.describe(include='O')  # categorical summary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9500" name="NavPrev">
            <a:hlinkClick r:id="rId3" action="ppaction://hlinksldjump"/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4" action="ppaction://hlinksldjump"/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9502" name="NavNext">
            <a:hlinkClick r:id="rId5" action="ppaction://hlinksldjump"/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D0B5EEC-C46D-293A-DC75-EE21C7201587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264456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691B27-241A-5031-B84B-938EE707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8" r="162"/>
          <a:stretch>
            <a:fillRect/>
          </a:stretch>
        </p:blipFill>
        <p:spPr>
          <a:xfrm>
            <a:off x="0" y="0"/>
            <a:ext cx="12354560" cy="688238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B766CC5-6B14-2A1C-7FF7-F82441FDA3A3}"/>
              </a:ext>
            </a:extLst>
          </p:cNvPr>
          <p:cNvSpPr txBox="1"/>
          <p:nvPr/>
        </p:nvSpPr>
        <p:spPr>
          <a:xfrm>
            <a:off x="548640" y="411480"/>
            <a:ext cx="1109472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2b — Cleaning Checks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2A4ABB2-5EBB-DAF1-6285-CD16AB1F61E8}"/>
              </a:ext>
            </a:extLst>
          </p:cNvPr>
          <p:cNvSpPr txBox="1"/>
          <p:nvPr/>
        </p:nvSpPr>
        <p:spPr>
          <a:xfrm>
            <a:off x="548640" y="1144589"/>
            <a:ext cx="7559040" cy="6299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Domain: Environmental / Operations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3073E20-6B30-CC1F-BADE-E12590E7129B}"/>
              </a:ext>
            </a:extLst>
          </p:cNvPr>
          <p:cNvSpPr txBox="1"/>
          <p:nvPr/>
        </p:nvSpPr>
        <p:spPr>
          <a:xfrm>
            <a:off x="548640" y="1774508"/>
            <a:ext cx="10972800" cy="722948"/>
          </a:xfrm>
          <a:prstGeom prst="rect">
            <a:avLst/>
          </a:prstGeom>
          <a:noFill/>
          <a:ln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What we checked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9B80642-A350-0A3A-61FA-FEFF83FF60BB}"/>
              </a:ext>
            </a:extLst>
          </p:cNvPr>
          <p:cNvSpPr txBox="1"/>
          <p:nvPr/>
        </p:nvSpPr>
        <p:spPr>
          <a:xfrm>
            <a:off x="548640" y="2404427"/>
            <a:ext cx="7559040" cy="267906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df.isnull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().sum() </a:t>
            </a: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 0 missing values in every column</a:t>
            </a: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df.duplicated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().sum() </a:t>
            </a: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 0 duplicate rows</a:t>
            </a: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df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[col].unique() </a:t>
            </a: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on all 4 categorical columns → no case mismatches or typos (e.g. no '</a:t>
            </a:r>
            <a:r>
              <a:rPr lang="en-GB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hfo</a:t>
            </a: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' vs 'HFO')</a:t>
            </a: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df.dtypes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 all 4 numeric columns already 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float64</a:t>
            </a:r>
            <a:r>
              <a:rPr lang="en-GB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all text columns already 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text</a:t>
            </a: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BD5361B3-3F03-383C-2D41-516ABFB0AB78}"/>
              </a:ext>
            </a:extLst>
          </p:cNvPr>
          <p:cNvSpPr txBox="1"/>
          <p:nvPr/>
        </p:nvSpPr>
        <p:spPr>
          <a:xfrm>
            <a:off x="8397240" y="1774508"/>
            <a:ext cx="3246120" cy="330898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342900" indent="-342900" algn="ctr">
              <a:spcAft>
                <a:spcPts val="1200"/>
              </a:spcAft>
              <a:buSzPct val="100000"/>
              <a:buChar char="●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C425A4F-30F6-0A5B-2EEF-42018F33877F}"/>
              </a:ext>
            </a:extLst>
          </p:cNvPr>
          <p:cNvSpPr txBox="1"/>
          <p:nvPr/>
        </p:nvSpPr>
        <p:spPr>
          <a:xfrm>
            <a:off x="8656320" y="19030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1FC069F-796B-D835-E75E-93B6D07EE995}"/>
              </a:ext>
            </a:extLst>
          </p:cNvPr>
          <p:cNvSpPr txBox="1"/>
          <p:nvPr/>
        </p:nvSpPr>
        <p:spPr>
          <a:xfrm>
            <a:off x="8656320" y="2447450"/>
            <a:ext cx="286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data pull arrived already clean.</a:t>
            </a:r>
            <a:endParaRPr lang="en-US" sz="15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101EEC62-91E4-333F-CCFF-30DCF04D4BF0}"/>
              </a:ext>
            </a:extLst>
          </p:cNvPr>
          <p:cNvSpPr txBox="1"/>
          <p:nvPr/>
        </p:nvSpPr>
        <p:spPr>
          <a:xfrm>
            <a:off x="8656320" y="2910887"/>
            <a:ext cx="2865120" cy="1754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fillna(), no dropna(), and no .replace() clean-up were needed. </a:t>
            </a:r>
          </a:p>
          <a:p>
            <a:pPr marL="0" indent="0" algn="just">
              <a:buNone/>
            </a:pPr>
            <a:endParaRPr lang="en-US" sz="1300" dirty="0">
              <a:solidFill>
                <a:srgbClr val="F4F7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checks explicitly — rather than assuming — is itself the deliverable the rubric asks for, and the same code would catch problems if a future data refresh isn't as clean.</a:t>
            </a:r>
            <a:endParaRPr lang="en-US" sz="1300" dirty="0"/>
          </a:p>
        </p:txBody>
      </p:sp>
      <p:sp>
        <p:nvSpPr>
          <p:cNvPr id="9500" name="NavPrev">
            <a:hlinkClick r:id="rId3" action="ppaction://hlinksldjump"/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4" action="ppaction://hlinksldjump"/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9502" name="NavNext">
            <a:hlinkClick r:id="rId5" action="ppaction://hlinksldjump"/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D0A20C68-64F2-5D4E-1C3F-312E897EB9E7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448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ED55FE-4BB0-A253-6132-5C1FF52E5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3B9CAD25-DF6E-D8F7-CC07-F6B199F8E440}"/>
              </a:ext>
            </a:extLst>
          </p:cNvPr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2c — Derived Columns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CDEB6097-ADCD-3C84-1039-369DFEAB737D}"/>
              </a:ext>
            </a:extLst>
          </p:cNvPr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4F7F9">
              <a:alpha val="42000"/>
            </a:srgbClr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2AACC571-2370-5AB0-714D-24B150E4E901}"/>
              </a:ext>
            </a:extLst>
          </p:cNvPr>
          <p:cNvSpPr/>
          <p:nvPr/>
        </p:nvSpPr>
        <p:spPr>
          <a:xfrm>
            <a:off x="548640" y="23774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CD677BA-08C8-5669-2684-FA63CBE3580E}"/>
              </a:ext>
            </a:extLst>
          </p:cNvPr>
          <p:cNvSpPr/>
          <p:nvPr/>
        </p:nvSpPr>
        <p:spPr>
          <a:xfrm>
            <a:off x="548640" y="33832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4F7F9">
              <a:alpha val="42000"/>
            </a:srgbClr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A705A54-3625-0B16-1424-859A40365DA2}"/>
              </a:ext>
            </a:extLst>
          </p:cNvPr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68BBA2F2-3B09-6C68-2C8A-5C5D1946F688}"/>
              </a:ext>
            </a:extLst>
          </p:cNvPr>
          <p:cNvSpPr txBox="1"/>
          <p:nvPr/>
        </p:nvSpPr>
        <p:spPr>
          <a:xfrm>
            <a:off x="777240" y="1371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distance_per_fuel</a:t>
            </a:r>
            <a:endParaRPr lang="en-US" sz="13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60415422-A45E-F1B9-8B9C-78D7BF2DAD31}"/>
              </a:ext>
            </a:extLst>
          </p:cNvPr>
          <p:cNvSpPr txBox="1"/>
          <p:nvPr/>
        </p:nvSpPr>
        <p:spPr>
          <a:xfrm>
            <a:off x="3200400" y="13716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/ fuel_consumption</a:t>
            </a:r>
            <a:endParaRPr lang="en-US" sz="1150" b="1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EB896F2D-7A24-5BDD-3039-A61C772699FB}"/>
              </a:ext>
            </a:extLst>
          </p:cNvPr>
          <p:cNvSpPr txBox="1"/>
          <p:nvPr/>
        </p:nvSpPr>
        <p:spPr>
          <a:xfrm>
            <a:off x="749808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covered per litre burned</a:t>
            </a:r>
            <a:endParaRPr lang="en-US" sz="12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1DFBD383-3B71-2B51-288A-4CFC369CB631}"/>
              </a:ext>
            </a:extLst>
          </p:cNvPr>
          <p:cNvSpPr txBox="1"/>
          <p:nvPr/>
        </p:nvSpPr>
        <p:spPr>
          <a:xfrm>
            <a:off x="77724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co2_per_fuel</a:t>
            </a:r>
            <a:endParaRPr lang="en-US" sz="13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E03C26B9-DF59-5E8B-E9E7-1B6691CCDA7F}"/>
              </a:ext>
            </a:extLst>
          </p:cNvPr>
          <p:cNvSpPr txBox="1"/>
          <p:nvPr/>
        </p:nvSpPr>
        <p:spPr>
          <a:xfrm>
            <a:off x="3200400" y="23774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CO2_emissions / fuel_consumption</a:t>
            </a:r>
            <a:endParaRPr lang="en-US" sz="1150" b="1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C1A898BD-F656-6CB4-ED84-7B21FFD37215}"/>
              </a:ext>
            </a:extLst>
          </p:cNvPr>
          <p:cNvSpPr txBox="1"/>
          <p:nvPr/>
        </p:nvSpPr>
        <p:spPr>
          <a:xfrm>
            <a:off x="7498080" y="2377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emitted per litre burned</a:t>
            </a:r>
            <a:endParaRPr lang="en-US" sz="125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ED2FA56E-57B7-9E5A-5808-07940FEBA85D}"/>
              </a:ext>
            </a:extLst>
          </p:cNvPr>
          <p:cNvSpPr txBox="1"/>
          <p:nvPr/>
        </p:nvSpPr>
        <p:spPr>
          <a:xfrm>
            <a:off x="777240" y="3383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co2_per_distance</a:t>
            </a:r>
            <a:endParaRPr lang="en-US" sz="13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07446BAE-1FCA-1D26-CB00-FAFBBBD33C06}"/>
              </a:ext>
            </a:extLst>
          </p:cNvPr>
          <p:cNvSpPr txBox="1"/>
          <p:nvPr/>
        </p:nvSpPr>
        <p:spPr>
          <a:xfrm>
            <a:off x="3200400" y="33832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CO2_emissions / distance</a:t>
            </a:r>
            <a:endParaRPr lang="en-US" sz="1150" b="1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94B626D7-EF7C-92EC-D2D9-9E7B9F69718E}"/>
              </a:ext>
            </a:extLst>
          </p:cNvPr>
          <p:cNvSpPr txBox="1"/>
          <p:nvPr/>
        </p:nvSpPr>
        <p:spPr>
          <a:xfrm>
            <a:off x="7498080" y="33832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emitted per km travelled</a:t>
            </a:r>
            <a:endParaRPr lang="en-US" sz="125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F243BE87-3189-52E2-3A83-E380E8A85D64}"/>
              </a:ext>
            </a:extLst>
          </p:cNvPr>
          <p:cNvSpPr txBox="1"/>
          <p:nvPr/>
        </p:nvSpPr>
        <p:spPr>
          <a:xfrm>
            <a:off x="777240" y="4389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</a:t>
            </a:r>
            <a:endParaRPr lang="en-US" sz="13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BEEED786-9CF3-9D6B-8534-675228B92BB1}"/>
              </a:ext>
            </a:extLst>
          </p:cNvPr>
          <p:cNvSpPr txBox="1"/>
          <p:nvPr/>
        </p:nvSpPr>
        <p:spPr>
          <a:xfrm>
            <a:off x="3200400" y="43891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 + list comprehension on month</a:t>
            </a:r>
            <a:endParaRPr lang="en-US" sz="1150" b="1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8E2B3539-E698-9E86-A029-E1C093A433B8}"/>
              </a:ext>
            </a:extLst>
          </p:cNvPr>
          <p:cNvSpPr txBox="1"/>
          <p:nvPr/>
        </p:nvSpPr>
        <p:spPr>
          <a:xfrm>
            <a:off x="7498080" y="43891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/ Spring / Summer / Autumn</a:t>
            </a:r>
            <a:endParaRPr lang="en-US" sz="125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DABFD9B9-3006-C630-7754-B3FAF5A7D2D0}"/>
              </a:ext>
            </a:extLst>
          </p:cNvPr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two groupby().agg() summary tables — by ship type, and by fuel type × season — ready to feed in visualizations session coming soon.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500" name="NavPrev">
            <a:hlinkClick r:id="rId3" action="ppaction://hlinksldjump"/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4" action="ppaction://hlinksldjump"/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9502" name="NavNext">
            <a:hlinkClick r:id="rId5" action="ppaction://hlinksldjump"/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E347E40-06DE-A397-8A81-091D9F65DD3E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9004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EE7327-E977-ADE2-6D82-0CA201FAA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B5D78865-ADFD-E5D8-4A32-FCE03E709E07}"/>
              </a:ext>
            </a:extLst>
          </p:cNvPr>
          <p:cNvSpPr/>
          <p:nvPr/>
        </p:nvSpPr>
        <p:spPr>
          <a:xfrm>
            <a:off x="548640" y="1371599"/>
            <a:ext cx="11064240" cy="237743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24CCD0D-8234-233E-341B-DF695877D4F3}"/>
              </a:ext>
            </a:extLst>
          </p:cNvPr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2d — Aggregation: Ship Type Summary</a:t>
            </a:r>
            <a:endParaRPr lang="en-US" sz="2600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876D369F-125E-199F-2CB0-0AAA5E868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03612"/>
              </p:ext>
            </p:extLst>
          </p:nvPr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Ship Type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Trips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Avg Distance (km)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Avg Fuel (L)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Avg CO₂ (kg)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Avg Efficiency (%)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Tanker Ship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408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266.76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10,780.41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29,795.44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82.18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Fishing Trawler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300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127.64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3,229.17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8,913.09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82.14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Oil Service Boat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408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86.59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2,619.44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7,187.83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83.42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Surfer Boat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324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111.31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1,666.13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4,577.64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82.44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1">
            <a:extLst>
              <a:ext uri="{FF2B5EF4-FFF2-40B4-BE49-F238E27FC236}">
                <a16:creationId xmlns:a16="http://schemas.microsoft.com/office/drawing/2014/main" id="{04CA1C2D-D2F1-496D-FFAA-054C08CE564E}"/>
              </a:ext>
            </a:extLst>
          </p:cNvPr>
          <p:cNvSpPr/>
          <p:nvPr/>
        </p:nvSpPr>
        <p:spPr>
          <a:xfrm>
            <a:off x="548640" y="4023360"/>
            <a:ext cx="11064240" cy="173736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66D6FA4-76CA-51B7-EA63-668B2AD533C3}"/>
              </a:ext>
            </a:extLst>
          </p:cNvPr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with: df.groupby('ship_type').agg(...) — the same aggregation syntax shown in the notes.</a:t>
            </a:r>
            <a:endParaRPr lang="en-US" sz="12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4571675D-2D3A-FBBF-341B-D3BFDB99E062}"/>
              </a:ext>
            </a:extLst>
          </p:cNvPr>
          <p:cNvSpPr txBox="1"/>
          <p:nvPr/>
        </p:nvSpPr>
        <p:spPr>
          <a:xfrm>
            <a:off x="822960" y="4663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 Ships already stand out here — the highest average distance, fuel consumption, and CO₂ emissions of any ship type. This table is the starting point for tomorrow's deeper visual analysis.</a:t>
            </a:r>
            <a:endParaRPr lang="en-US" sz="1300" dirty="0"/>
          </a:p>
        </p:txBody>
      </p:sp>
      <p:sp>
        <p:nvSpPr>
          <p:cNvPr id="9500" name="NavPrev">
            <a:hlinkClick r:id="rId3" action="ppaction://hlinksldjump"/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4" action="ppaction://hlinksldjump"/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9502" name="NavNext">
            <a:hlinkClick r:id="rId5" action="ppaction://hlinksldjump"/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C21D6E8-0C8A-BC01-588C-354071E3814F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6376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820F16-8EEE-FFD1-A81E-E21B6DA1BE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6" t="16076" r="106"/>
          <a:stretch>
            <a:fillRect/>
          </a:stretch>
        </p:blipFill>
        <p:spPr>
          <a:xfrm>
            <a:off x="-44617" y="0"/>
            <a:ext cx="12255195" cy="6858000"/>
          </a:xfrm>
          <a:prstGeom prst="rect">
            <a:avLst/>
          </a:prstGeom>
        </p:spPr>
      </p:pic>
      <p:sp>
        <p:nvSpPr>
          <p:cNvPr id="29" name="Text 0">
            <a:extLst>
              <a:ext uri="{FF2B5EF4-FFF2-40B4-BE49-F238E27FC236}">
                <a16:creationId xmlns:a16="http://schemas.microsoft.com/office/drawing/2014/main" id="{FEA81A84-C14A-34B1-A16B-8BE20FC41425}"/>
              </a:ext>
            </a:extLst>
          </p:cNvPr>
          <p:cNvSpPr txBox="1"/>
          <p:nvPr/>
        </p:nvSpPr>
        <p:spPr>
          <a:xfrm>
            <a:off x="756600" y="1833141"/>
            <a:ext cx="10972800" cy="640080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39AA2FEF-C150-7FB2-AF31-F722DE8F0B36}"/>
              </a:ext>
            </a:extLst>
          </p:cNvPr>
          <p:cNvSpPr txBox="1"/>
          <p:nvPr/>
        </p:nvSpPr>
        <p:spPr>
          <a:xfrm>
            <a:off x="688020" y="2569001"/>
            <a:ext cx="5394960" cy="32004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domain, and dataset selection finalized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inspected 1,440 records × 10 columns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no missing values, no duplicates, no label inconsistencies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4 new columns and 2 summary tables</a:t>
            </a:r>
            <a:endParaRPr lang="en-US" sz="135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2E143326-1E3B-7E82-0572-A10976C56F85}"/>
              </a:ext>
            </a:extLst>
          </p:cNvPr>
          <p:cNvSpPr txBox="1"/>
          <p:nvPr/>
        </p:nvSpPr>
        <p:spPr>
          <a:xfrm>
            <a:off x="6403020" y="2569001"/>
            <a:ext cx="5394960" cy="32004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visualizations: univariate, bivariate, multivariate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across distance, fuel, CO₂, efficiency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5 documented insights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recommendations for fleet operations</a:t>
            </a:r>
            <a:endParaRPr lang="en-US" sz="135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EF25275-2BB9-190D-0F18-62377F44332F}"/>
              </a:ext>
            </a:extLst>
          </p:cNvPr>
          <p:cNvSpPr txBox="1"/>
          <p:nvPr/>
        </p:nvSpPr>
        <p:spPr>
          <a:xfrm>
            <a:off x="848040" y="2760562"/>
            <a:ext cx="5394960" cy="36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done (Tasks 1 &amp; 2)</a:t>
            </a:r>
            <a:endParaRPr lang="en-US" sz="16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0AFD1E36-BE36-D306-F6E5-B44B9B1DD76D}"/>
              </a:ext>
            </a:extLst>
          </p:cNvPr>
          <p:cNvSpPr txBox="1"/>
          <p:nvPr/>
        </p:nvSpPr>
        <p:spPr>
          <a:xfrm>
            <a:off x="6563040" y="2760562"/>
            <a:ext cx="5394960" cy="36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next (Tasks 3 &amp; 4)</a:t>
            </a:r>
            <a:endParaRPr lang="en-US" sz="1600" dirty="0"/>
          </a:p>
        </p:txBody>
      </p:sp>
      <p:sp>
        <p:nvSpPr>
          <p:cNvPr id="9500" name="NavPrev">
            <a:hlinkClick r:id="rId3" action="ppaction://hlinksldjump"/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4" action="ppaction://hlinksldjump"/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3" name="NavNext">
            <a:hlinkClick r:id="rId5" action="ppaction://hlinksldjump"/>
            <a:extLst>
              <a:ext uri="{FF2B5EF4-FFF2-40B4-BE49-F238E27FC236}">
                <a16:creationId xmlns:a16="http://schemas.microsoft.com/office/drawing/2014/main" id="{8470C3EA-034D-EF4E-AEE6-1CAB669F65CA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4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EAE9AC80-E1D7-37A3-1027-5E9222D36B94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281094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85053-B179-3CC6-808A-FB28FDDB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DB37-F263-AE96-0F9B-B390A7F5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EAB48-1178-9DBD-75B5-1003F2D58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237F5-C0F0-83C9-3835-3CA13DDC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06" b="10230"/>
          <a:stretch>
            <a:fillRect/>
          </a:stretch>
        </p:blipFill>
        <p:spPr>
          <a:xfrm>
            <a:off x="-24329" y="0"/>
            <a:ext cx="12262286" cy="6858000"/>
          </a:xfrm>
          <a:prstGeom prst="rect">
            <a:avLst/>
          </a:prstGeom>
        </p:spPr>
      </p:pic>
      <p:sp>
        <p:nvSpPr>
          <p:cNvPr id="9500" name="NavPrev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8AE9673-48BA-79CE-11E2-99A5755874E2}"/>
              </a:ext>
            </a:extLst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3" action="ppaction://hlinksldjump"/>
            <a:extLst>
              <a:ext uri="{FF2B5EF4-FFF2-40B4-BE49-F238E27FC236}">
                <a16:creationId xmlns:a16="http://schemas.microsoft.com/office/drawing/2014/main" id="{B875D958-288A-9A43-B0A0-BD42426748AC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9502" name="NavNext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0063FEA-4308-A524-1C4D-A70BFF8EC025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0C3A4D8-1872-876C-8965-72883D882693}"/>
              </a:ext>
            </a:extLst>
          </p:cNvPr>
          <p:cNvSpPr txBox="1"/>
          <p:nvPr/>
        </p:nvSpPr>
        <p:spPr>
          <a:xfrm>
            <a:off x="548640" y="411480"/>
            <a:ext cx="66075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: EDA &amp; </a:t>
            </a:r>
            <a:r>
              <a:rPr lang="en-US" sz="3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</a:t>
            </a:r>
            <a:endParaRPr lang="en-US" sz="3000" b="1" dirty="0">
              <a:solidFill>
                <a:srgbClr val="21295C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</a:t>
            </a:r>
            <a:endParaRPr lang="en-US" sz="30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D173B0A8-0127-0603-4585-3B3E2FBE14C1}"/>
              </a:ext>
            </a:extLst>
          </p:cNvPr>
          <p:cNvSpPr/>
          <p:nvPr/>
        </p:nvSpPr>
        <p:spPr>
          <a:xfrm>
            <a:off x="548640" y="1371600"/>
            <a:ext cx="3520440" cy="3931920"/>
          </a:xfrm>
          <a:prstGeom prst="roundRect">
            <a:avLst>
              <a:gd name="adj" fmla="val 2597"/>
            </a:avLst>
          </a:prstGeom>
          <a:gradFill flip="none" rotWithShape="1">
            <a:gsLst>
              <a:gs pos="0">
                <a:schemeClr val="accent1">
                  <a:lumMod val="89000"/>
                  <a:alpha val="66000"/>
                </a:schemeClr>
              </a:gs>
              <a:gs pos="23000">
                <a:schemeClr val="accent1">
                  <a:lumMod val="89000"/>
                  <a:alpha val="80000"/>
                </a:schemeClr>
              </a:gs>
              <a:gs pos="69000">
                <a:schemeClr val="accent1">
                  <a:lumMod val="75000"/>
                  <a:alpha val="75000"/>
                </a:schemeClr>
              </a:gs>
              <a:gs pos="97000">
                <a:schemeClr val="accent1">
                  <a:lumMod val="70000"/>
                  <a:alpha val="32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AE1B106-5518-A7D1-44A8-37858D972F2F}"/>
              </a:ext>
            </a:extLst>
          </p:cNvPr>
          <p:cNvSpPr txBox="1"/>
          <p:nvPr/>
        </p:nvSpPr>
        <p:spPr>
          <a:xfrm>
            <a:off x="77724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</a:t>
            </a:r>
            <a:endParaRPr lang="en-US" sz="20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545092FD-E63B-49AB-4A8A-E09A0BDC5F2D}"/>
              </a:ext>
            </a:extLst>
          </p:cNvPr>
          <p:cNvSpPr txBox="1"/>
          <p:nvPr/>
        </p:nvSpPr>
        <p:spPr>
          <a:xfrm>
            <a:off x="77724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charts</a:t>
            </a:r>
            <a:endParaRPr lang="en-US" sz="15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5EF7F1B8-6BD2-EF9B-714E-572E03057FB6}"/>
              </a:ext>
            </a:extLst>
          </p:cNvPr>
          <p:cNvSpPr txBox="1"/>
          <p:nvPr/>
        </p:nvSpPr>
        <p:spPr>
          <a:xfrm>
            <a:off x="777240" y="26060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at a time — histograms, a count plot, and a pie chart to see each field's own distribution.</a:t>
            </a:r>
            <a:endParaRPr lang="en-US" sz="1300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9D68B742-E30C-F28D-464D-8C394BC2A491}"/>
              </a:ext>
            </a:extLst>
          </p:cNvPr>
          <p:cNvSpPr/>
          <p:nvPr/>
        </p:nvSpPr>
        <p:spPr>
          <a:xfrm>
            <a:off x="4297680" y="1371600"/>
            <a:ext cx="3520440" cy="3931920"/>
          </a:xfrm>
          <a:prstGeom prst="roundRect">
            <a:avLst>
              <a:gd name="adj" fmla="val 2597"/>
            </a:avLst>
          </a:prstGeom>
          <a:gradFill flip="none" rotWithShape="1">
            <a:gsLst>
              <a:gs pos="0">
                <a:schemeClr val="accent1">
                  <a:lumMod val="89000"/>
                  <a:alpha val="66000"/>
                </a:schemeClr>
              </a:gs>
              <a:gs pos="23000">
                <a:schemeClr val="accent1">
                  <a:lumMod val="89000"/>
                  <a:alpha val="80000"/>
                </a:schemeClr>
              </a:gs>
              <a:gs pos="69000">
                <a:schemeClr val="accent1">
                  <a:lumMod val="75000"/>
                  <a:alpha val="75000"/>
                </a:schemeClr>
              </a:gs>
              <a:gs pos="97000">
                <a:schemeClr val="accent1">
                  <a:lumMod val="70000"/>
                  <a:alpha val="32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5459F060-E915-149C-D725-216D87C5325D}"/>
              </a:ext>
            </a:extLst>
          </p:cNvPr>
          <p:cNvSpPr txBox="1"/>
          <p:nvPr/>
        </p:nvSpPr>
        <p:spPr>
          <a:xfrm>
            <a:off x="452628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</a:t>
            </a:r>
            <a:endParaRPr lang="en-US" sz="20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9211879A-A2CD-B3CD-61D0-0FAF8FE49A57}"/>
              </a:ext>
            </a:extLst>
          </p:cNvPr>
          <p:cNvSpPr txBox="1"/>
          <p:nvPr/>
        </p:nvSpPr>
        <p:spPr>
          <a:xfrm>
            <a:off x="452628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charts</a:t>
            </a:r>
            <a:endParaRPr lang="en-US" sz="15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DC141BB4-F4C4-5D57-6786-42B4027DED89}"/>
              </a:ext>
            </a:extLst>
          </p:cNvPr>
          <p:cNvSpPr txBox="1"/>
          <p:nvPr/>
        </p:nvSpPr>
        <p:spPr>
          <a:xfrm>
            <a:off x="4526280" y="26060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together — scatter, box plots, and bar/line charts comparing pairs of fields.</a:t>
            </a:r>
            <a:endParaRPr lang="en-US" sz="130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BF056250-5226-2FE7-74BF-606EE4F46937}"/>
              </a:ext>
            </a:extLst>
          </p:cNvPr>
          <p:cNvSpPr/>
          <p:nvPr/>
        </p:nvSpPr>
        <p:spPr>
          <a:xfrm>
            <a:off x="8046720" y="1371600"/>
            <a:ext cx="3520440" cy="3931920"/>
          </a:xfrm>
          <a:prstGeom prst="roundRect">
            <a:avLst>
              <a:gd name="adj" fmla="val 2597"/>
            </a:avLst>
          </a:prstGeom>
          <a:gradFill flip="none" rotWithShape="1">
            <a:gsLst>
              <a:gs pos="0">
                <a:schemeClr val="accent1">
                  <a:lumMod val="89000"/>
                  <a:alpha val="66000"/>
                </a:schemeClr>
              </a:gs>
              <a:gs pos="23000">
                <a:schemeClr val="accent1">
                  <a:lumMod val="89000"/>
                  <a:alpha val="80000"/>
                </a:schemeClr>
              </a:gs>
              <a:gs pos="69000">
                <a:schemeClr val="accent1">
                  <a:lumMod val="75000"/>
                  <a:alpha val="75000"/>
                </a:schemeClr>
              </a:gs>
              <a:gs pos="97000">
                <a:schemeClr val="accent1">
                  <a:lumMod val="70000"/>
                  <a:alpha val="32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5B56C9D-6002-3E25-5E13-47782B2E5B5D}"/>
              </a:ext>
            </a:extLst>
          </p:cNvPr>
          <p:cNvSpPr txBox="1"/>
          <p:nvPr/>
        </p:nvSpPr>
        <p:spPr>
          <a:xfrm>
            <a:off x="827532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</a:t>
            </a:r>
            <a:endParaRPr lang="en-US" sz="20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D9BEFE89-752D-144E-B850-F384E05CED37}"/>
              </a:ext>
            </a:extLst>
          </p:cNvPr>
          <p:cNvSpPr txBox="1"/>
          <p:nvPr/>
        </p:nvSpPr>
        <p:spPr>
          <a:xfrm>
            <a:off x="827532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charts</a:t>
            </a:r>
            <a:endParaRPr lang="en-US" sz="15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02A6205-8170-2E37-4555-62F5BFF123F9}"/>
              </a:ext>
            </a:extLst>
          </p:cNvPr>
          <p:cNvSpPr txBox="1"/>
          <p:nvPr/>
        </p:nvSpPr>
        <p:spPr>
          <a:xfrm>
            <a:off x="8275320" y="26060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factors at once — a correlation heatmap, and hue/style-coded scatter, violin, bar, and KDE plots.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EC1FD2AB-D81A-B203-18BF-08EC36B1CCFF}"/>
              </a:ext>
            </a:extLst>
          </p:cNvPr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Matplotlib and Seaborn functions from the course notes: plt.hist, plt.scatter, plt.pie, plt.bar, plt.plot, sns.histplot, sns.countplot, sns.boxplot, sns.barplot, sns.heatmap, sns.scatterplot, sns.violinplot, sns.kdeplot.</a:t>
            </a:r>
            <a:endParaRPr lang="en-US" sz="1200" dirty="0"/>
          </a:p>
        </p:txBody>
      </p:sp>
      <p:sp>
        <p:nvSpPr>
          <p:cNvPr id="7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69BE1296-2E69-BFE8-243F-8BA74175EFAE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415675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817F7-BE80-4D70-83BC-78D7D9B0B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FB04FFF-6E31-9820-1069-A7FEE7DEF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0338F75-A0D2-33F9-0B45-5E032FECA84E}"/>
              </a:ext>
            </a:extLst>
          </p:cNvPr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988256-622E-EE11-2AAD-97349E6F7D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27"/>
          <a:stretch>
            <a:fillRect/>
          </a:stretch>
        </p:blipFill>
        <p:spPr>
          <a:xfrm>
            <a:off x="339555" y="1325880"/>
            <a:ext cx="3623524" cy="23117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BB301-725C-4923-6B9E-F6F1D7D23B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676"/>
          <a:stretch>
            <a:fillRect/>
          </a:stretch>
        </p:blipFill>
        <p:spPr>
          <a:xfrm>
            <a:off x="4125644" y="1325880"/>
            <a:ext cx="3720497" cy="23117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72CD49-26D3-AC0A-AE92-0386356200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2314"/>
          <a:stretch>
            <a:fillRect/>
          </a:stretch>
        </p:blipFill>
        <p:spPr>
          <a:xfrm>
            <a:off x="8038225" y="1325880"/>
            <a:ext cx="3563840" cy="23117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19E0F6-5288-C6F8-7A5A-A1406B090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555" y="3770224"/>
            <a:ext cx="3623524" cy="2386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93B3AB-D8A6-1F60-34A4-943AB03C8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5644" y="3770224"/>
            <a:ext cx="2373961" cy="2386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NavNext">
            <a:hlinkClick r:id="rId8" action="ppaction://hlinksldjump"/>
            <a:extLst>
              <a:ext uri="{FF2B5EF4-FFF2-40B4-BE49-F238E27FC236}">
                <a16:creationId xmlns:a16="http://schemas.microsoft.com/office/drawing/2014/main" id="{A87F8142-BBD0-B501-1C4C-E5FF0565CAED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24" name="NavPrev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66BA034-C167-65FD-A5B7-339C942CDE8A}"/>
              </a:ext>
            </a:extLst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28" name="NavMenu">
            <a:hlinkClick r:id="rId9" action="ppaction://hlinksldjump"/>
            <a:extLst>
              <a:ext uri="{FF2B5EF4-FFF2-40B4-BE49-F238E27FC236}">
                <a16:creationId xmlns:a16="http://schemas.microsoft.com/office/drawing/2014/main" id="{7CC38196-9BFC-F1EC-1BEE-904821D8F26E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4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C149D47F-260C-0700-FC83-24E77FF4603E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0016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46C89-2B28-5536-235D-B61D3F35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0F7C030-C327-D261-FA1A-6DBD1B8A9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CF73831-6C88-E75C-11BD-820513F2D9CC}"/>
              </a:ext>
            </a:extLst>
          </p:cNvPr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D81FF-0E03-2B75-BDF3-93E3600CE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31" y="1400489"/>
            <a:ext cx="3642036" cy="2371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F99143-F58B-D517-4900-3CD4BB608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298" y="1400490"/>
            <a:ext cx="3545381" cy="2365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6015A2-D49D-8E78-97F6-0E0BBBA9A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810" y="1400490"/>
            <a:ext cx="3742462" cy="2365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1147CB-50BD-5E05-EDDB-B88A6DA21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594" y="3930549"/>
            <a:ext cx="3673573" cy="2594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3BDA531-DE43-3EDC-143A-08ED36492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8760" y="3930549"/>
            <a:ext cx="3088787" cy="2594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8FF804-2FC1-379B-D441-2B46D02E42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5140" y="3930549"/>
            <a:ext cx="4262132" cy="2589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NavNext">
            <a:hlinkClick r:id="rId9" action="ppaction://hlinksldjump"/>
            <a:extLst>
              <a:ext uri="{FF2B5EF4-FFF2-40B4-BE49-F238E27FC236}">
                <a16:creationId xmlns:a16="http://schemas.microsoft.com/office/drawing/2014/main" id="{B77E5983-3FA8-DCDB-CBA6-C7CA13535F71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25" name="NavPrev">
            <a:hlinkClick r:id="rId10" action="ppaction://hlinksldjump"/>
            <a:extLst>
              <a:ext uri="{FF2B5EF4-FFF2-40B4-BE49-F238E27FC236}">
                <a16:creationId xmlns:a16="http://schemas.microsoft.com/office/drawing/2014/main" id="{66ACC1CE-3C44-CC7D-7551-A877827320B5}"/>
              </a:ext>
            </a:extLst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27" name="NavMenu">
            <a:hlinkClick r:id="rId11" action="ppaction://hlinksldjump"/>
            <a:extLst>
              <a:ext uri="{FF2B5EF4-FFF2-40B4-BE49-F238E27FC236}">
                <a16:creationId xmlns:a16="http://schemas.microsoft.com/office/drawing/2014/main" id="{BD43712C-AD00-B653-6C2C-AF1D9104AABC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5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DE053CD3-6A2A-D106-A14A-35D32F71658E}"/>
              </a:ext>
            </a:extLst>
          </p:cNvPr>
          <p:cNvSpPr/>
          <p:nvPr/>
        </p:nvSpPr>
        <p:spPr>
          <a:xfrm>
            <a:off x="9808532" y="834865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4800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019E8-8653-EA7D-6431-5B53B1E5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D7A202F-EB42-6F68-EE8B-A2E35A78B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FAE443D-FE6F-2435-C3D0-B35CA24E768C}"/>
              </a:ext>
            </a:extLst>
          </p:cNvPr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Analysis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D661A-A7C0-952A-9405-8D292A81D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89" y="1234440"/>
            <a:ext cx="3423592" cy="2827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44E83F-6DA3-BE8E-F6F8-B060DA819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728" y="1234441"/>
            <a:ext cx="4428624" cy="24590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702FA0-4B3A-D26F-B5B2-DF17F95E1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89" y="4183941"/>
            <a:ext cx="3423592" cy="23747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2CC7D4-45E8-6843-35A0-D75035F04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0728" y="3849644"/>
            <a:ext cx="4428624" cy="2709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33BE1A-FEDC-E17A-A8C9-C016B3D54D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399" y="1234440"/>
            <a:ext cx="3545512" cy="2618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NavNext">
            <a:hlinkClick r:id="rId8" action="ppaction://hlinksldjump"/>
            <a:extLst>
              <a:ext uri="{FF2B5EF4-FFF2-40B4-BE49-F238E27FC236}">
                <a16:creationId xmlns:a16="http://schemas.microsoft.com/office/drawing/2014/main" id="{B5738049-B5CE-B6FE-5BA4-F956159D1853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26" name="NavPrev">
            <a:hlinkClick r:id="rId9" action="ppaction://hlinksldjump"/>
            <a:extLst>
              <a:ext uri="{FF2B5EF4-FFF2-40B4-BE49-F238E27FC236}">
                <a16:creationId xmlns:a16="http://schemas.microsoft.com/office/drawing/2014/main" id="{01E6F9D8-ACB9-5C1F-8019-6D581B3EFF03}"/>
              </a:ext>
            </a:extLst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28" name="NavMenu">
            <a:hlinkClick r:id="rId10" action="ppaction://hlinksldjump"/>
            <a:extLst>
              <a:ext uri="{FF2B5EF4-FFF2-40B4-BE49-F238E27FC236}">
                <a16:creationId xmlns:a16="http://schemas.microsoft.com/office/drawing/2014/main" id="{9FD52985-1633-80EF-3D09-A738E50147B8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4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9909D626-D793-29EC-814E-7108333A5107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7205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11DF-7705-02F9-450D-F3E00C89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A7D3B9-98D2-B4EB-1AEE-91F89E356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45" b="12479"/>
          <a:stretch>
            <a:fillRect/>
          </a:stretch>
        </p:blipFill>
        <p:spPr>
          <a:xfrm>
            <a:off x="0" y="0"/>
            <a:ext cx="12212320" cy="6858000"/>
          </a:xfrm>
          <a:prstGeom prst="rect">
            <a:avLst/>
          </a:prstGeom>
        </p:spPr>
      </p:pic>
      <p:sp>
        <p:nvSpPr>
          <p:cNvPr id="9500" name="NavPrev">
            <a:hlinkClick r:id="rId3" action="ppaction://hlinksldjump"/>
            <a:extLst>
              <a:ext uri="{FF2B5EF4-FFF2-40B4-BE49-F238E27FC236}">
                <a16:creationId xmlns:a16="http://schemas.microsoft.com/office/drawing/2014/main" id="{A89DC3C3-92E2-DFB8-F8DE-14D4A0857ABC}"/>
              </a:ext>
            </a:extLst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4" action="ppaction://hlinksldjump"/>
            <a:extLst>
              <a:ext uri="{FF2B5EF4-FFF2-40B4-BE49-F238E27FC236}">
                <a16:creationId xmlns:a16="http://schemas.microsoft.com/office/drawing/2014/main" id="{992DF75A-19B8-A1CF-252E-D79EA58936EE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9502" name="NavNext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83B1C3E-2D8A-E832-7B1F-EA4747F7843F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TASK 4 »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81D1858-177E-766D-0CDA-123E814F7284}"/>
              </a:ext>
            </a:extLst>
          </p:cNvPr>
          <p:cNvSpPr txBox="1"/>
          <p:nvPr/>
        </p:nvSpPr>
        <p:spPr>
          <a:xfrm>
            <a:off x="548640" y="457200"/>
            <a:ext cx="3258047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Summary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2B8DBA4-EB26-15EE-6D82-A94AC054C600}"/>
              </a:ext>
            </a:extLst>
          </p:cNvPr>
          <p:cNvSpPr/>
          <p:nvPr/>
        </p:nvSpPr>
        <p:spPr>
          <a:xfrm>
            <a:off x="548640" y="1463040"/>
            <a:ext cx="3520440" cy="1554480"/>
          </a:xfrm>
          <a:prstGeom prst="roundRect">
            <a:avLst>
              <a:gd name="adj" fmla="val 5882"/>
            </a:avLst>
          </a:prstGeom>
          <a:solidFill>
            <a:schemeClr val="dk1">
              <a:alpha val="69000"/>
            </a:schemeClr>
          </a:solidFill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24DB6DA-FDA7-D64A-AE1C-6F81EE8C4216}"/>
              </a:ext>
            </a:extLst>
          </p:cNvPr>
          <p:cNvSpPr txBox="1"/>
          <p:nvPr/>
        </p:nvSpPr>
        <p:spPr>
          <a:xfrm>
            <a:off x="548640" y="16002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D02E364-BD97-5F36-2A2B-01B286EFD93A}"/>
              </a:ext>
            </a:extLst>
          </p:cNvPr>
          <p:cNvSpPr txBox="1"/>
          <p:nvPr/>
        </p:nvSpPr>
        <p:spPr>
          <a:xfrm>
            <a:off x="548640" y="23774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built</a:t>
            </a:r>
            <a:endParaRPr lang="en-US" sz="125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D3B299D9-3176-3446-CA12-62390C744F80}"/>
              </a:ext>
            </a:extLst>
          </p:cNvPr>
          <p:cNvSpPr/>
          <p:nvPr/>
        </p:nvSpPr>
        <p:spPr>
          <a:xfrm>
            <a:off x="548640" y="3154681"/>
            <a:ext cx="3520440" cy="1554480"/>
          </a:xfrm>
          <a:prstGeom prst="roundRect">
            <a:avLst>
              <a:gd name="adj" fmla="val 5882"/>
            </a:avLst>
          </a:prstGeom>
          <a:solidFill>
            <a:schemeClr val="dk1">
              <a:alpha val="69000"/>
            </a:schemeClr>
          </a:solidFill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D621D9A6-E844-6922-89FE-E484A13E506C}"/>
              </a:ext>
            </a:extLst>
          </p:cNvPr>
          <p:cNvSpPr txBox="1"/>
          <p:nvPr/>
        </p:nvSpPr>
        <p:spPr>
          <a:xfrm>
            <a:off x="510540" y="3291841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5+6+5</a:t>
            </a:r>
            <a:endParaRPr lang="en-US" sz="28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4374B31-27ED-4BB9-DF9D-47941D4F7B8B}"/>
              </a:ext>
            </a:extLst>
          </p:cNvPr>
          <p:cNvSpPr txBox="1"/>
          <p:nvPr/>
        </p:nvSpPr>
        <p:spPr>
          <a:xfrm>
            <a:off x="510540" y="4069081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+ Bivariate + Multivariate</a:t>
            </a:r>
            <a:endParaRPr lang="en-US" sz="125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DD6AE4EB-346C-F4B6-47A1-B189E250B4F4}"/>
              </a:ext>
            </a:extLst>
          </p:cNvPr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83B9994-C348-0E01-4863-2E1C4A688B8B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7169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0A46-8F95-8352-7B7B-9AE76823F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F331A3-853C-1431-E630-1DF99591A3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8" r="162"/>
          <a:stretch>
            <a:fillRect/>
          </a:stretch>
        </p:blipFill>
        <p:spPr>
          <a:xfrm>
            <a:off x="0" y="0"/>
            <a:ext cx="12354560" cy="688238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2267C3B0-292A-0A36-3FFA-445097157AEF}"/>
              </a:ext>
            </a:extLst>
          </p:cNvPr>
          <p:cNvSpPr txBox="1"/>
          <p:nvPr/>
        </p:nvSpPr>
        <p:spPr>
          <a:xfrm>
            <a:off x="548640" y="492397"/>
            <a:ext cx="810768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4: Documentation, Insights &amp; Presentation</a:t>
            </a:r>
          </a:p>
        </p:txBody>
      </p:sp>
      <p:sp>
        <p:nvSpPr>
          <p:cNvPr id="9500" name="NavPrev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AE1A946-BCD2-D1DD-F093-2B4AE52FCA0D}"/>
              </a:ext>
            </a:extLst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9501" name="NavMenu">
            <a:hlinkClick r:id="rId3" action="ppaction://hlinksldjump"/>
            <a:extLst>
              <a:ext uri="{FF2B5EF4-FFF2-40B4-BE49-F238E27FC236}">
                <a16:creationId xmlns:a16="http://schemas.microsoft.com/office/drawing/2014/main" id="{A6F3EC85-F64F-B3F4-5285-BD3B3A5F6895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9502" name="NavNext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B9082C7-BC41-4500-EDBE-85931861D634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AAC2D8B-9E09-3833-C57F-A13B642460BF}"/>
              </a:ext>
            </a:extLst>
          </p:cNvPr>
          <p:cNvSpPr txBox="1"/>
          <p:nvPr/>
        </p:nvSpPr>
        <p:spPr>
          <a:xfrm>
            <a:off x="576072" y="1304834"/>
            <a:ext cx="8309511" cy="640080"/>
          </a:xfrm>
          <a:prstGeom prst="rect">
            <a:avLst/>
          </a:prstGeom>
          <a:solidFill>
            <a:schemeClr val="tx1">
              <a:lumMod val="95000"/>
              <a:lumOff val="5000"/>
              <a:alpha val="58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2D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Finding: Tanker Ships Drive Fuel &amp; Emissions</a:t>
            </a:r>
            <a:endParaRPr lang="en-US" sz="2500" dirty="0">
              <a:solidFill>
                <a:srgbClr val="92D050"/>
              </a:solidFill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FC4A5825-F229-52F1-2041-14333EFE9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36905"/>
              </p:ext>
            </p:extLst>
          </p:nvPr>
        </p:nvGraphicFramePr>
        <p:xfrm>
          <a:off x="548640" y="2152468"/>
          <a:ext cx="11064240" cy="219456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Type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Distance (km)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Fuel (L)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CO₂ (kg)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Efficiency (%)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6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Tanker Ship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266.76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10,780.41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29,795.44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82.18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Fishing Trawler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127.64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3,229.17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8,913.09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82.14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Service Boat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86.59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2,619.44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7,187.83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83.42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>
                        <a:alpha val="6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Surfer Boat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111.31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1,666.13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4,577.64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82.44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1">
            <a:extLst>
              <a:ext uri="{FF2B5EF4-FFF2-40B4-BE49-F238E27FC236}">
                <a16:creationId xmlns:a16="http://schemas.microsoft.com/office/drawing/2014/main" id="{EF975FD0-3B9A-40D2-DE97-CB35B01EE0F4}"/>
              </a:ext>
            </a:extLst>
          </p:cNvPr>
          <p:cNvSpPr/>
          <p:nvPr/>
        </p:nvSpPr>
        <p:spPr>
          <a:xfrm>
            <a:off x="548640" y="4575628"/>
            <a:ext cx="11064240" cy="2148840"/>
          </a:xfrm>
          <a:prstGeom prst="rect">
            <a:avLst/>
          </a:prstGeom>
          <a:solidFill>
            <a:schemeClr val="tx1">
              <a:lumMod val="95000"/>
              <a:lumOff val="5000"/>
              <a:alpha val="86000"/>
            </a:schemeClr>
          </a:solidFill>
          <a:ln/>
        </p:spPr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9647AE7-5594-07B9-6C57-3B6F053F417A}"/>
              </a:ext>
            </a:extLst>
          </p:cNvPr>
          <p:cNvSpPr txBox="1"/>
          <p:nvPr/>
        </p:nvSpPr>
        <p:spPr>
          <a:xfrm>
            <a:off x="822960" y="475850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Tankers average ~6.5x the fuel consumption of a Surfer Boat and the highest CO₂ emissions per trip of any ship type in the fleet — the single clearest target for efficiency initiatives.</a:t>
            </a:r>
            <a:endParaRPr lang="en-US" sz="15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0CE6F78-38F4-9468-6180-826DAEE04075}"/>
              </a:ext>
            </a:extLst>
          </p:cNvPr>
          <p:cNvSpPr txBox="1"/>
          <p:nvPr/>
        </p:nvSpPr>
        <p:spPr>
          <a:xfrm>
            <a:off x="822960" y="58100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 df.groupby('ship_type').agg(...) — the same aggregation syntax shown in the course notes.</a:t>
            </a:r>
            <a:endParaRPr lang="en-US" sz="1150" dirty="0"/>
          </a:p>
        </p:txBody>
      </p:sp>
      <p:sp>
        <p:nvSpPr>
          <p:cNvPr id="4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DC61B018-E790-7012-D8A1-94A4718803A6}"/>
              </a:ext>
            </a:extLst>
          </p:cNvPr>
          <p:cNvSpPr/>
          <p:nvPr/>
        </p:nvSpPr>
        <p:spPr>
          <a:xfrm>
            <a:off x="9801572" y="845094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4342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D6FD7-C4AB-EAE1-4E4D-3EB653F1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8387F-048C-D3EA-9CF2-86B7BABE5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A42FFD-2BE2-F2F2-10B2-6749CF2586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06" b="10230"/>
          <a:stretch>
            <a:fillRect/>
          </a:stretch>
        </p:blipFill>
        <p:spPr>
          <a:xfrm>
            <a:off x="-24329" y="0"/>
            <a:ext cx="12262286" cy="685800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6186CB75-CA74-3E65-9187-DC412E630529}"/>
              </a:ext>
            </a:extLst>
          </p:cNvPr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(1 of 2)</a:t>
            </a:r>
            <a:endParaRPr lang="en-US" sz="2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494E4680-F886-5C7D-C6C9-D2FF29553F45}"/>
              </a:ext>
            </a:extLst>
          </p:cNvPr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gradFill>
            <a:gsLst>
              <a:gs pos="0">
                <a:schemeClr val="dk1">
                  <a:satMod val="103000"/>
                  <a:lumMod val="102000"/>
                  <a:tint val="94000"/>
                  <a:alpha val="82000"/>
                </a:schemeClr>
              </a:gs>
              <a:gs pos="50000">
                <a:schemeClr val="dk1">
                  <a:satMod val="110000"/>
                  <a:lumMod val="100000"/>
                  <a:shade val="100000"/>
                  <a:alpha val="80000"/>
                </a:schemeClr>
              </a:gs>
              <a:gs pos="100000">
                <a:schemeClr val="dk1">
                  <a:lumMod val="99000"/>
                  <a:satMod val="120000"/>
                  <a:shade val="78000"/>
                  <a:alpha val="74000"/>
                </a:schemeClr>
              </a:gs>
            </a:gsLst>
          </a:gradFill>
          <a:ln/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stA="21000" endPos="65000" dist="50800" dir="5400000" sy="-100000" algn="bl" rotWithShape="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C713C70B-97FB-5B43-8818-2BF74C827896}"/>
              </a:ext>
            </a:extLst>
          </p:cNvPr>
          <p:cNvSpPr txBox="1"/>
          <p:nvPr/>
        </p:nvSpPr>
        <p:spPr>
          <a:xfrm>
            <a:off x="777240" y="14630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EFCC1A4B-4DB6-09C1-7F88-162186CC3DC3}"/>
              </a:ext>
            </a:extLst>
          </p:cNvPr>
          <p:cNvSpPr txBox="1"/>
          <p:nvPr/>
        </p:nvSpPr>
        <p:spPr>
          <a:xfrm>
            <a:off x="1737360" y="14630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 Ships are the fleet's biggest fuel &amp; emissions driver, averaging ~6.5x a Surfer Boat's fuel use per trip.</a:t>
            </a:r>
            <a:endParaRPr lang="en-US" sz="14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4C944127-C270-0C3D-60B5-F96C2F2F80FF}"/>
              </a:ext>
            </a:extLst>
          </p:cNvPr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5161"/>
            </a:avLst>
          </a:prstGeom>
          <a:gradFill>
            <a:gsLst>
              <a:gs pos="0">
                <a:schemeClr val="dk1">
                  <a:satMod val="103000"/>
                  <a:lumMod val="102000"/>
                  <a:tint val="94000"/>
                  <a:alpha val="82000"/>
                </a:schemeClr>
              </a:gs>
              <a:gs pos="50000">
                <a:schemeClr val="dk1">
                  <a:satMod val="110000"/>
                  <a:lumMod val="100000"/>
                  <a:shade val="100000"/>
                  <a:alpha val="80000"/>
                </a:schemeClr>
              </a:gs>
              <a:gs pos="100000">
                <a:schemeClr val="dk1">
                  <a:lumMod val="99000"/>
                  <a:satMod val="120000"/>
                  <a:shade val="78000"/>
                  <a:alpha val="74000"/>
                </a:schemeClr>
              </a:gs>
            </a:gsLst>
          </a:gradFill>
          <a:ln/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stA="21000" endPos="65000" dist="50800" dir="5400000" sy="-100000" algn="bl" rotWithShape="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D07F7061-D7E7-CCC5-67A5-5156CD8D711D}"/>
              </a:ext>
            </a:extLst>
          </p:cNvPr>
          <p:cNvSpPr txBox="1"/>
          <p:nvPr/>
        </p:nvSpPr>
        <p:spPr>
          <a:xfrm>
            <a:off x="777240" y="30632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79C7441-C8F6-C0B3-6B3C-C327F55F4A36}"/>
              </a:ext>
            </a:extLst>
          </p:cNvPr>
          <p:cNvSpPr txBox="1"/>
          <p:nvPr/>
        </p:nvSpPr>
        <p:spPr>
          <a:xfrm>
            <a:off x="1737360" y="30632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consumption is almost perfectly correlated with CO₂ emissions (r≈ 0.997) and strongly correlated with distance (r≈ 0.94). Engine efficiency barely correlates with any of them.</a:t>
            </a:r>
            <a:endParaRPr lang="en-US" sz="14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91456699-F395-C1B1-57A2-D59B2F058E06}"/>
              </a:ext>
            </a:extLst>
          </p:cNvPr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gradFill>
            <a:gsLst>
              <a:gs pos="0">
                <a:schemeClr val="dk1">
                  <a:satMod val="103000"/>
                  <a:lumMod val="102000"/>
                  <a:tint val="94000"/>
                  <a:alpha val="82000"/>
                </a:schemeClr>
              </a:gs>
              <a:gs pos="50000">
                <a:schemeClr val="dk1">
                  <a:satMod val="110000"/>
                  <a:lumMod val="100000"/>
                  <a:shade val="100000"/>
                  <a:alpha val="80000"/>
                </a:schemeClr>
              </a:gs>
              <a:gs pos="100000">
                <a:schemeClr val="dk1">
                  <a:lumMod val="99000"/>
                  <a:satMod val="120000"/>
                  <a:shade val="78000"/>
                  <a:alpha val="74000"/>
                </a:schemeClr>
              </a:gs>
            </a:gsLst>
          </a:gradFill>
          <a:ln/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stA="21000" endPos="65000" dist="50800" dir="5400000" sy="-100000" algn="bl" rotWithShape="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4A94725-A7EF-E698-9E5E-29E75D8D5EAD}"/>
              </a:ext>
            </a:extLst>
          </p:cNvPr>
          <p:cNvSpPr txBox="1"/>
          <p:nvPr/>
        </p:nvSpPr>
        <p:spPr>
          <a:xfrm>
            <a:off x="777240" y="46634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E5A3D9F2-89BB-D0A6-920A-1C3C5FF3473F}"/>
              </a:ext>
            </a:extLst>
          </p:cNvPr>
          <p:cNvSpPr txBox="1"/>
          <p:nvPr/>
        </p:nvSpPr>
        <p:spPr>
          <a:xfrm>
            <a:off x="1737360" y="4663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has only a minor effect here — the Task 3 box and violin plots show Calm/Moderate/Stormy trips are very close on both fuel use and efficiency.</a:t>
            </a:r>
            <a:endParaRPr lang="en-US" sz="1400" dirty="0"/>
          </a:p>
        </p:txBody>
      </p:sp>
      <p:sp>
        <p:nvSpPr>
          <p:cNvPr id="29" name="NavPrev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E64F7B-DDAA-05CA-2B4A-F29721E83694}"/>
              </a:ext>
            </a:extLst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31" name="NavMenu">
            <a:hlinkClick r:id="rId3" action="ppaction://hlinksldjump"/>
            <a:extLst>
              <a:ext uri="{FF2B5EF4-FFF2-40B4-BE49-F238E27FC236}">
                <a16:creationId xmlns:a16="http://schemas.microsoft.com/office/drawing/2014/main" id="{1F83115F-C761-31D1-CF61-5986C3615285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33" name="NavNext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35FA817-45CC-10D0-1968-1158FD910A28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5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9745179E-0049-E569-C173-B7E49E90432B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3378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485B-D45B-A9DB-A219-847F55789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C799-906E-0EBE-538E-5AC2A140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DD3F-1351-1748-DA3E-41B69CB22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C2402F-23C6-F592-56A4-C1B51ED41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06" b="10230"/>
          <a:stretch>
            <a:fillRect/>
          </a:stretch>
        </p:blipFill>
        <p:spPr>
          <a:xfrm>
            <a:off x="-24329" y="0"/>
            <a:ext cx="12262286" cy="685800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82E1C534-7F96-514D-1395-079A4F5FD9C3}"/>
              </a:ext>
            </a:extLst>
          </p:cNvPr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(2 of 2)</a:t>
            </a:r>
            <a:endParaRPr lang="en-US" sz="2800" dirty="0"/>
          </a:p>
        </p:txBody>
      </p:sp>
      <p:sp>
        <p:nvSpPr>
          <p:cNvPr id="29" name="NavPrev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E5FCD7B-3988-D994-05A9-9CA63A8A7883}"/>
              </a:ext>
            </a:extLst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31" name="NavMenu">
            <a:hlinkClick r:id="rId3" action="ppaction://hlinksldjump"/>
            <a:extLst>
              <a:ext uri="{FF2B5EF4-FFF2-40B4-BE49-F238E27FC236}">
                <a16:creationId xmlns:a16="http://schemas.microsoft.com/office/drawing/2014/main" id="{4C37251B-B30C-A3FC-FF4F-36C29DA177CE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33" name="NavNext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9839C36-2C7B-750C-2201-7A8B6759103C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 »</a:t>
            </a:r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6F675B9A-6398-6D32-0CA7-5F5BC7BDA41F}"/>
              </a:ext>
            </a:extLst>
          </p:cNvPr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gradFill>
            <a:gsLst>
              <a:gs pos="0">
                <a:schemeClr val="dk1">
                  <a:satMod val="103000"/>
                  <a:lumMod val="102000"/>
                  <a:tint val="94000"/>
                  <a:alpha val="82000"/>
                </a:schemeClr>
              </a:gs>
              <a:gs pos="50000">
                <a:schemeClr val="dk1">
                  <a:satMod val="110000"/>
                  <a:lumMod val="100000"/>
                  <a:shade val="100000"/>
                  <a:alpha val="80000"/>
                </a:schemeClr>
              </a:gs>
              <a:gs pos="100000">
                <a:schemeClr val="dk1">
                  <a:lumMod val="99000"/>
                  <a:satMod val="120000"/>
                  <a:shade val="78000"/>
                  <a:alpha val="74000"/>
                </a:schemeClr>
              </a:gs>
            </a:gsLst>
          </a:gradFill>
          <a:ln/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stA="21000" endPos="65000" dist="50800" dir="5400000" sy="-100000" algn="bl" rotWithShape="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76F0DA5C-163E-ED62-3F8C-B1D7F0B14D77}"/>
              </a:ext>
            </a:extLst>
          </p:cNvPr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5161"/>
            </a:avLst>
          </a:prstGeom>
          <a:gradFill>
            <a:gsLst>
              <a:gs pos="0">
                <a:schemeClr val="dk1">
                  <a:satMod val="103000"/>
                  <a:lumMod val="102000"/>
                  <a:tint val="94000"/>
                  <a:alpha val="82000"/>
                </a:schemeClr>
              </a:gs>
              <a:gs pos="50000">
                <a:schemeClr val="dk1">
                  <a:satMod val="110000"/>
                  <a:lumMod val="100000"/>
                  <a:shade val="100000"/>
                  <a:alpha val="80000"/>
                </a:schemeClr>
              </a:gs>
              <a:gs pos="100000">
                <a:schemeClr val="dk1">
                  <a:lumMod val="99000"/>
                  <a:satMod val="120000"/>
                  <a:shade val="78000"/>
                  <a:alpha val="74000"/>
                </a:schemeClr>
              </a:gs>
            </a:gsLst>
          </a:gradFill>
          <a:ln/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stA="21000" endPos="65000" dist="50800" dir="5400000" sy="-100000" algn="bl" rotWithShape="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E4F0DD81-2ADB-30AB-C6AC-BFFC23CD08A7}"/>
              </a:ext>
            </a:extLst>
          </p:cNvPr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gradFill>
            <a:gsLst>
              <a:gs pos="0">
                <a:schemeClr val="dk1">
                  <a:satMod val="103000"/>
                  <a:lumMod val="102000"/>
                  <a:tint val="94000"/>
                  <a:alpha val="82000"/>
                </a:schemeClr>
              </a:gs>
              <a:gs pos="50000">
                <a:schemeClr val="dk1">
                  <a:satMod val="110000"/>
                  <a:lumMod val="100000"/>
                  <a:shade val="100000"/>
                  <a:alpha val="80000"/>
                </a:schemeClr>
              </a:gs>
              <a:gs pos="100000">
                <a:schemeClr val="dk1">
                  <a:lumMod val="99000"/>
                  <a:satMod val="120000"/>
                  <a:shade val="78000"/>
                  <a:alpha val="74000"/>
                </a:schemeClr>
              </a:gs>
            </a:gsLst>
          </a:gradFill>
          <a:ln/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stA="21000" endPos="65000" dist="50800" dir="5400000" sy="-100000" algn="bl" rotWithShape="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F884C57A-F86F-B0CF-0E2A-C2820B9C1F51}"/>
              </a:ext>
            </a:extLst>
          </p:cNvPr>
          <p:cNvSpPr txBox="1"/>
          <p:nvPr/>
        </p:nvSpPr>
        <p:spPr>
          <a:xfrm>
            <a:off x="777240" y="14630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FBF82D42-2833-8B12-4CD7-6C80CA1DD6AE}"/>
              </a:ext>
            </a:extLst>
          </p:cNvPr>
          <p:cNvSpPr txBox="1"/>
          <p:nvPr/>
        </p:nvSpPr>
        <p:spPr>
          <a:xfrm>
            <a:off x="1737360" y="14630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HFO's higher average fuel &amp; CO₂ is mostly a ship-assignment effect — Surfer Boats never use HFO, so the two fuels aren't compared like-for-like. Efficiency itself differs by &lt;1 point.</a:t>
            </a:r>
            <a:endParaRPr lang="en-US" sz="1400" dirty="0"/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D952E422-3EC8-4442-3DBA-813C4378857D}"/>
              </a:ext>
            </a:extLst>
          </p:cNvPr>
          <p:cNvSpPr txBox="1"/>
          <p:nvPr/>
        </p:nvSpPr>
        <p:spPr>
          <a:xfrm>
            <a:off x="777240" y="30632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7BAB75DA-D857-04A0-23F1-F439946F913C}"/>
              </a:ext>
            </a:extLst>
          </p:cNvPr>
          <p:cNvSpPr txBox="1"/>
          <p:nvPr/>
        </p:nvSpPr>
        <p:spPr>
          <a:xfrm>
            <a:off x="1737360" y="30632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litre of fuel is remarkably consistent (≈2.75, std ≈0.15), but CO₂ per km varies nearly 3x by ship type (41 for Surfer Boats vs. 111 for Tankers) — the real lever for cutting emissions.</a:t>
            </a:r>
            <a:endParaRPr lang="en-US" sz="1400" dirty="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09A5B629-AA84-BC8D-62D4-10F743A69D40}"/>
              </a:ext>
            </a:extLst>
          </p:cNvPr>
          <p:cNvSpPr txBox="1"/>
          <p:nvPr/>
        </p:nvSpPr>
        <p:spPr>
          <a:xfrm>
            <a:off x="777240" y="46634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212474FA-2BC7-7C49-3CA1-8E998DE293B9}"/>
              </a:ext>
            </a:extLst>
          </p:cNvPr>
          <p:cNvSpPr txBox="1"/>
          <p:nvPr/>
        </p:nvSpPr>
        <p:spPr>
          <a:xfrm>
            <a:off x="1737360" y="4663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Lagos-Apapa is the highest-emission route on average, narrowly ahead of Escravos-Lagos; Warri-Bonny is the lowest.</a:t>
            </a:r>
            <a:endParaRPr lang="en-US" sz="1400" dirty="0"/>
          </a:p>
        </p:txBody>
      </p:sp>
      <p:sp>
        <p:nvSpPr>
          <p:cNvPr id="5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637267B9-5583-923D-075C-5518BB842347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0376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7F000E-4642-50BA-6FDB-1D7F0C7A0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" name="Rectangle: Diagonal Corners Rounded 125">
            <a:extLst>
              <a:ext uri="{FF2B5EF4-FFF2-40B4-BE49-F238E27FC236}">
                <a16:creationId xmlns:a16="http://schemas.microsoft.com/office/drawing/2014/main" id="{D738F810-FF55-62ED-0DCF-473E7CCAAE78}"/>
              </a:ext>
            </a:extLst>
          </p:cNvPr>
          <p:cNvSpPr/>
          <p:nvPr/>
        </p:nvSpPr>
        <p:spPr>
          <a:xfrm>
            <a:off x="193040" y="1097915"/>
            <a:ext cx="11521440" cy="4520565"/>
          </a:xfrm>
          <a:prstGeom prst="round2DiagRect">
            <a:avLst>
              <a:gd name="adj1" fmla="val 12621"/>
              <a:gd name="adj2" fmla="val 0"/>
            </a:avLst>
          </a:prstGeom>
          <a:solidFill>
            <a:schemeClr val="dk1">
              <a:alpha val="4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 0">
            <a:extLst>
              <a:ext uri="{FF2B5EF4-FFF2-40B4-BE49-F238E27FC236}">
                <a16:creationId xmlns:a16="http://schemas.microsoft.com/office/drawing/2014/main" id="{4F4486F2-B20C-D88F-492D-3DF27FE05414}"/>
              </a:ext>
            </a:extLst>
          </p:cNvPr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87" name="Shape 1">
            <a:extLst>
              <a:ext uri="{FF2B5EF4-FFF2-40B4-BE49-F238E27FC236}">
                <a16:creationId xmlns:a16="http://schemas.microsoft.com/office/drawing/2014/main" id="{E619FA81-C468-5967-85CB-B5DEEEBFF808}"/>
              </a:ext>
            </a:extLst>
          </p:cNvPr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sp>
      <p:sp>
        <p:nvSpPr>
          <p:cNvPr id="89" name="Text 2">
            <a:extLst>
              <a:ext uri="{FF2B5EF4-FFF2-40B4-BE49-F238E27FC236}">
                <a16:creationId xmlns:a16="http://schemas.microsoft.com/office/drawing/2014/main" id="{A4D827DF-EC6B-7CBB-5B32-27F3657BE17E}"/>
              </a:ext>
            </a:extLst>
          </p:cNvPr>
          <p:cNvSpPr txBox="1"/>
          <p:nvPr/>
        </p:nvSpPr>
        <p:spPr>
          <a:xfrm>
            <a:off x="548640" y="1417320"/>
            <a:ext cx="45720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1" name="Text 3">
            <a:extLst>
              <a:ext uri="{FF2B5EF4-FFF2-40B4-BE49-F238E27FC236}">
                <a16:creationId xmlns:a16="http://schemas.microsoft.com/office/drawing/2014/main" id="{A1A01F9B-C7DF-616D-A1E2-B47B8EF05FFF}"/>
              </a:ext>
            </a:extLst>
          </p:cNvPr>
          <p:cNvSpPr txBox="1"/>
          <p:nvPr/>
        </p:nvSpPr>
        <p:spPr>
          <a:xfrm>
            <a:off x="1234440" y="1325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Tankers &amp; the Lagos-Apapa route first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3" name="Text 4">
            <a:extLst>
              <a:ext uri="{FF2B5EF4-FFF2-40B4-BE49-F238E27FC236}">
                <a16:creationId xmlns:a16="http://schemas.microsoft.com/office/drawing/2014/main" id="{8E08AD6A-F02E-ED94-5CC6-E6B182685782}"/>
              </a:ext>
            </a:extLst>
          </p:cNvPr>
          <p:cNvSpPr txBox="1"/>
          <p:nvPr/>
        </p:nvSpPr>
        <p:spPr>
          <a:xfrm>
            <a:off x="1234440" y="1691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efficiency audits where the data shows the highest emissions — largest absolute savings potential.</a:t>
            </a:r>
            <a:endParaRPr lang="en-US" sz="12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5" name="Shape 5">
            <a:extLst>
              <a:ext uri="{FF2B5EF4-FFF2-40B4-BE49-F238E27FC236}">
                <a16:creationId xmlns:a16="http://schemas.microsoft.com/office/drawing/2014/main" id="{8F755C46-D99F-6AE0-0FA1-9004E25C372F}"/>
              </a:ext>
            </a:extLst>
          </p:cNvPr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1F12F2FC-1603-170C-6E61-F593E517A2FD}"/>
              </a:ext>
            </a:extLst>
          </p:cNvPr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9" name="Text 7">
            <a:extLst>
              <a:ext uri="{FF2B5EF4-FFF2-40B4-BE49-F238E27FC236}">
                <a16:creationId xmlns:a16="http://schemas.microsoft.com/office/drawing/2014/main" id="{E357B317-1223-64A3-17AE-2AEBD2F3CF20}"/>
              </a:ext>
            </a:extLst>
          </p:cNvPr>
          <p:cNvSpPr txBox="1"/>
          <p:nvPr/>
        </p:nvSpPr>
        <p:spPr>
          <a:xfrm>
            <a:off x="1234440" y="2377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for ship type before comparing fuels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1" name="Text 8">
            <a:extLst>
              <a:ext uri="{FF2B5EF4-FFF2-40B4-BE49-F238E27FC236}">
                <a16:creationId xmlns:a16="http://schemas.microsoft.com/office/drawing/2014/main" id="{63DF762B-EC40-5F85-CCF6-A80E4CE12257}"/>
              </a:ext>
            </a:extLst>
          </p:cNvPr>
          <p:cNvSpPr txBox="1"/>
          <p:nvPr/>
        </p:nvSpPr>
        <p:spPr>
          <a:xfrm>
            <a:off x="123444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HFO's higher average fuel/CO₂ is confounded by ship assignment (Surfer Boats never use HFO) — compare fuels within a single ship type for a cleaner read.</a:t>
            </a:r>
            <a:endParaRPr lang="en-US" sz="12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3" name="Shape 9">
            <a:extLst>
              <a:ext uri="{FF2B5EF4-FFF2-40B4-BE49-F238E27FC236}">
                <a16:creationId xmlns:a16="http://schemas.microsoft.com/office/drawing/2014/main" id="{D19DB3B8-192C-AE33-2AA0-9FAE8AB0BCE4}"/>
              </a:ext>
            </a:extLst>
          </p:cNvPr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sp>
      <p:sp>
        <p:nvSpPr>
          <p:cNvPr id="105" name="Text 10">
            <a:extLst>
              <a:ext uri="{FF2B5EF4-FFF2-40B4-BE49-F238E27FC236}">
                <a16:creationId xmlns:a16="http://schemas.microsoft.com/office/drawing/2014/main" id="{A619D3F2-68AB-B5C5-4B1F-BFEEA01FC191}"/>
              </a:ext>
            </a:extLst>
          </p:cNvPr>
          <p:cNvSpPr txBox="1"/>
          <p:nvPr/>
        </p:nvSpPr>
        <p:spPr>
          <a:xfrm>
            <a:off x="548640" y="3520439"/>
            <a:ext cx="45720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7D7C5537-689E-4EC0-D988-AA4D573E6027}"/>
              </a:ext>
            </a:extLst>
          </p:cNvPr>
          <p:cNvSpPr txBox="1"/>
          <p:nvPr/>
        </p:nvSpPr>
        <p:spPr>
          <a:xfrm>
            <a:off x="1234440" y="3429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fuel switching on cost &amp; emissions, not efficiency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9" name="Text 12">
            <a:extLst>
              <a:ext uri="{FF2B5EF4-FFF2-40B4-BE49-F238E27FC236}">
                <a16:creationId xmlns:a16="http://schemas.microsoft.com/office/drawing/2014/main" id="{C2F2D104-B0BD-E2FA-DCA7-BBBBEFC01EAC}"/>
              </a:ext>
            </a:extLst>
          </p:cNvPr>
          <p:cNvSpPr txBox="1"/>
          <p:nvPr/>
        </p:nvSpPr>
        <p:spPr>
          <a:xfrm>
            <a:off x="1234440" y="3794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fuel type showed little direct effect on engine efficiency once ship type is accounted for, base any HFO→Diesel decision on cost and emissions factors.</a:t>
            </a:r>
            <a:endParaRPr lang="en-US" sz="12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1" name="Shape 13">
            <a:extLst>
              <a:ext uri="{FF2B5EF4-FFF2-40B4-BE49-F238E27FC236}">
                <a16:creationId xmlns:a16="http://schemas.microsoft.com/office/drawing/2014/main" id="{71DB88F0-9E61-F8D3-2790-A759544474ED}"/>
              </a:ext>
            </a:extLst>
          </p:cNvPr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sp>
      <p:sp>
        <p:nvSpPr>
          <p:cNvPr id="113" name="Text 14">
            <a:extLst>
              <a:ext uri="{FF2B5EF4-FFF2-40B4-BE49-F238E27FC236}">
                <a16:creationId xmlns:a16="http://schemas.microsoft.com/office/drawing/2014/main" id="{6DA5412A-B602-D837-92BD-D12EC5564700}"/>
              </a:ext>
            </a:extLst>
          </p:cNvPr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AE514BDF-6CD5-E505-AE8B-0B6A191FDC37}"/>
              </a:ext>
            </a:extLst>
          </p:cNvPr>
          <p:cNvSpPr txBox="1"/>
          <p:nvPr/>
        </p:nvSpPr>
        <p:spPr>
          <a:xfrm>
            <a:off x="1234440" y="4480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what actually drives engine efficiency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7" name="Text 16">
            <a:extLst>
              <a:ext uri="{FF2B5EF4-FFF2-40B4-BE49-F238E27FC236}">
                <a16:creationId xmlns:a16="http://schemas.microsoft.com/office/drawing/2014/main" id="{C94AFDDD-8219-AAB3-BC5C-C6CC514B046F}"/>
              </a:ext>
            </a:extLst>
          </p:cNvPr>
          <p:cNvSpPr txBox="1"/>
          <p:nvPr/>
        </p:nvSpPr>
        <p:spPr>
          <a:xfrm>
            <a:off x="1234440" y="4846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correlates weakly with every numeric field here — likely candidates not in this dataset include vessel age, maintenance history, and engine type.</a:t>
            </a:r>
            <a:endParaRPr lang="en-US" sz="12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8" name="NavPrev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A51D654-BE3A-7AFA-D013-14CD0AF84EE8}"/>
              </a:ext>
            </a:extLst>
          </p:cNvPr>
          <p:cNvSpPr/>
          <p:nvPr/>
        </p:nvSpPr>
        <p:spPr>
          <a:xfrm>
            <a:off x="8796528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« PREV</a:t>
            </a:r>
          </a:p>
        </p:txBody>
      </p:sp>
      <p:sp>
        <p:nvSpPr>
          <p:cNvPr id="130" name="NavMenu">
            <a:hlinkClick r:id="rId3" action="ppaction://hlinksldjump"/>
            <a:extLst>
              <a:ext uri="{FF2B5EF4-FFF2-40B4-BE49-F238E27FC236}">
                <a16:creationId xmlns:a16="http://schemas.microsoft.com/office/drawing/2014/main" id="{5D2176C2-5118-B28A-FC61-0F86432AE214}"/>
              </a:ext>
            </a:extLst>
          </p:cNvPr>
          <p:cNvSpPr/>
          <p:nvPr/>
        </p:nvSpPr>
        <p:spPr>
          <a:xfrm>
            <a:off x="9784080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E8763A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</a:p>
        </p:txBody>
      </p:sp>
      <p:sp>
        <p:nvSpPr>
          <p:cNvPr id="132" name="NavNext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62355ED-195B-0CB3-1DF3-168DAC0F3F9B}"/>
              </a:ext>
            </a:extLst>
          </p:cNvPr>
          <p:cNvSpPr/>
          <p:nvPr/>
        </p:nvSpPr>
        <p:spPr>
          <a:xfrm>
            <a:off x="10771632" y="2743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071B2B">
              <a:alpha val="78000"/>
            </a:srgbClr>
          </a:solidFill>
          <a:ln w="9525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900" b="1" spc="80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</a:p>
        </p:txBody>
      </p:sp>
      <p:sp>
        <p:nvSpPr>
          <p:cNvPr id="3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4B2AF06C-5EA3-9635-635F-B3595F6F9F8A}"/>
              </a:ext>
            </a:extLst>
          </p:cNvPr>
          <p:cNvSpPr/>
          <p:nvPr/>
        </p:nvSpPr>
        <p:spPr>
          <a:xfrm>
            <a:off x="9801572" y="6187758"/>
            <a:ext cx="1838740" cy="46228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05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53996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35A-A3C6-53E2-A8F3-79D8DC89D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D9DD-FCFD-7DF4-A930-3DEDA7C6EC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2CA18-565B-427C-1290-B672BF8B58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C7138-8134-F0F0-DB1A-8FA318B4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5" t="23339" r="155" b="-11755"/>
          <a:stretch>
            <a:fillRect/>
          </a:stretch>
        </p:blipFill>
        <p:spPr>
          <a:xfrm>
            <a:off x="-18907" y="0"/>
            <a:ext cx="12209016" cy="790956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7C745A56-1286-D3CA-8A91-1270457C78FB}"/>
              </a:ext>
            </a:extLst>
          </p:cNvPr>
          <p:cNvSpPr txBox="1"/>
          <p:nvPr/>
        </p:nvSpPr>
        <p:spPr>
          <a:xfrm>
            <a:off x="502920" y="653256"/>
            <a:ext cx="8412480" cy="1305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Ship Fuel Efficiency</a:t>
            </a:r>
            <a:endParaRPr lang="en-US" sz="4000" dirty="0">
              <a:solidFill>
                <a:schemeClr val="bg1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&amp; Emissions Analysis</a:t>
            </a:r>
            <a:endParaRPr lang="en-US" sz="4000" dirty="0">
              <a:solidFill>
                <a:schemeClr val="bg1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8827A8F-3D1B-9556-3DBF-51D8A39E0AA6}"/>
              </a:ext>
            </a:extLst>
          </p:cNvPr>
          <p:cNvSpPr txBox="1"/>
          <p:nvPr/>
        </p:nvSpPr>
        <p:spPr>
          <a:xfrm>
            <a:off x="502920" y="1924368"/>
            <a:ext cx="78741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Final Project — </a:t>
            </a:r>
          </a:p>
          <a:p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Problem Definition &amp; Dataset Selection | Task 2: Data Cleaning &amp; Pre-processing | Task 3: EDA &amp; Visualizations| Task 4: Documentation, Insights &amp; Presentation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9CED660D-718E-616E-E161-FC5472A42C37}"/>
              </a:ext>
            </a:extLst>
          </p:cNvPr>
          <p:cNvSpPr txBox="1"/>
          <p:nvPr/>
        </p:nvSpPr>
        <p:spPr>
          <a:xfrm>
            <a:off x="421640" y="5577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Aseem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Environmental / Maritime Operations Analytics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ship_fuel_efficiency.csv  •  1,440 trip records  •  10 features</a:t>
            </a:r>
            <a:endParaRPr lang="en-US" sz="1300" dirty="0"/>
          </a:p>
        </p:txBody>
      </p:sp>
      <p:sp>
        <p:nvSpPr>
          <p:cNvPr id="9501" name="StartPresentation">
            <a:hlinkClick r:id="rId3" action="ppaction://hlinksldjump"/>
            <a:extLst>
              <a:ext uri="{FF2B5EF4-FFF2-40B4-BE49-F238E27FC236}">
                <a16:creationId xmlns:a16="http://schemas.microsoft.com/office/drawing/2014/main" id="{14591A85-35DF-7F47-87D4-FAC83929E0F5}"/>
              </a:ext>
            </a:extLst>
          </p:cNvPr>
          <p:cNvSpPr/>
          <p:nvPr/>
        </p:nvSpPr>
        <p:spPr>
          <a:xfrm>
            <a:off x="576072" y="315468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8763A">
              <a:alpha val="92000"/>
            </a:srgbClr>
          </a:solidFill>
          <a:ln w="12700">
            <a:solidFill>
              <a:srgbClr val="FFD9C4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400" b="1" spc="80" dirty="0">
                <a:solidFill>
                  <a:srgbClr val="FFFFFF"/>
                </a:solidFill>
                <a:latin typeface="Arial"/>
                <a:cs typeface="Arial"/>
              </a:rPr>
              <a:t>START PRESENTATION  »</a:t>
            </a:r>
          </a:p>
        </p:txBody>
      </p:sp>
      <p:sp>
        <p:nvSpPr>
          <p:cNvPr id="9502" name="TitleContents">
            <a:hlinkClick r:id="rId4" action="ppaction://hlinksldjump"/>
            <a:extLst>
              <a:ext uri="{FF2B5EF4-FFF2-40B4-BE49-F238E27FC236}">
                <a16:creationId xmlns:a16="http://schemas.microsoft.com/office/drawing/2014/main" id="{9BDBD0B9-B4D8-5372-AA82-064F79D38FFF}"/>
              </a:ext>
            </a:extLst>
          </p:cNvPr>
          <p:cNvSpPr/>
          <p:nvPr/>
        </p:nvSpPr>
        <p:spPr>
          <a:xfrm>
            <a:off x="4224528" y="3154680"/>
            <a:ext cx="2011680" cy="73152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200" b="1" spc="80" dirty="0">
                <a:solidFill>
                  <a:srgbClr val="FFFFFF"/>
                </a:solidFill>
                <a:latin typeface="Arial"/>
                <a:cs typeface="Arial"/>
              </a:rPr>
              <a:t>CONTENTS</a:t>
            </a:r>
          </a:p>
        </p:txBody>
      </p:sp>
      <p:sp>
        <p:nvSpPr>
          <p:cNvPr id="8" name="TitleContents">
            <a:hlinkClick r:id="" action="ppaction://hlinkshowjump?jump=endshow"/>
            <a:extLst>
              <a:ext uri="{FF2B5EF4-FFF2-40B4-BE49-F238E27FC236}">
                <a16:creationId xmlns:a16="http://schemas.microsoft.com/office/drawing/2014/main" id="{C00DB127-8795-9A28-ABA3-7B7FF25A0E90}"/>
              </a:ext>
            </a:extLst>
          </p:cNvPr>
          <p:cNvSpPr/>
          <p:nvPr/>
        </p:nvSpPr>
        <p:spPr>
          <a:xfrm>
            <a:off x="4224528" y="4064159"/>
            <a:ext cx="2011680" cy="731520"/>
          </a:xfrm>
          <a:prstGeom prst="roundRect">
            <a:avLst>
              <a:gd name="adj" fmla="val 50000"/>
            </a:avLst>
          </a:prstGeom>
          <a:solidFill>
            <a:srgbClr val="061826">
              <a:alpha val="55000"/>
            </a:srgbClr>
          </a:solidFill>
          <a:ln w="12700">
            <a:solidFill>
              <a:srgbClr val="58C5BD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200" b="1" spc="80" dirty="0">
                <a:solidFill>
                  <a:srgbClr val="FFFFFF"/>
                </a:solidFill>
                <a:latin typeface="Arial"/>
                <a:cs typeface="Arial"/>
              </a:rPr>
              <a:t>END PRESENTATION</a:t>
            </a:r>
          </a:p>
        </p:txBody>
      </p:sp>
      <p:sp>
        <p:nvSpPr>
          <p:cNvPr id="10" name="StartPresentation">
            <a:hlinkClick r:id="rId5"/>
            <a:extLst>
              <a:ext uri="{FF2B5EF4-FFF2-40B4-BE49-F238E27FC236}">
                <a16:creationId xmlns:a16="http://schemas.microsoft.com/office/drawing/2014/main" id="{09C7C68F-CDFE-48E8-850E-C2341F880BAC}"/>
              </a:ext>
            </a:extLst>
          </p:cNvPr>
          <p:cNvSpPr/>
          <p:nvPr/>
        </p:nvSpPr>
        <p:spPr>
          <a:xfrm>
            <a:off x="576072" y="4114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8763A">
              <a:alpha val="92000"/>
            </a:srgbClr>
          </a:solidFill>
          <a:ln w="12700">
            <a:solidFill>
              <a:srgbClr val="FFD9C4"/>
            </a:solidFill>
          </a:ln>
          <a:effectLst>
            <a:outerShdw blurRad="63500" dist="25400" dir="5400000" rotWithShape="0">
              <a:prstClr val="black">
                <a:alpha val="35000"/>
              </a:prstClr>
            </a:outerShdw>
          </a:effectLst>
        </p:spPr>
        <p:txBody>
          <a:bodyPr wrap="none" lIns="36576" tIns="18288" rIns="36576" bIns="18288" anchor="ctr"/>
          <a:lstStyle/>
          <a:p>
            <a:pPr algn="ctr">
              <a:buNone/>
            </a:pPr>
            <a:r>
              <a:rPr lang="en-US" sz="1400" b="1" spc="80" dirty="0">
                <a:solidFill>
                  <a:srgbClr val="FFFFFF"/>
                </a:solidFill>
                <a:latin typeface="Arial"/>
                <a:cs typeface="Arial"/>
              </a:rPr>
              <a:t>FILE UNLOCKED</a:t>
            </a:r>
          </a:p>
        </p:txBody>
      </p:sp>
    </p:spTree>
    <p:extLst>
      <p:ext uri="{BB962C8B-B14F-4D97-AF65-F5344CB8AC3E}">
        <p14:creationId xmlns:p14="http://schemas.microsoft.com/office/powerpoint/2010/main" val="251544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reveal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1847</Words>
  <Application>Microsoft Office PowerPoint</Application>
  <PresentationFormat>Widescreen</PresentationFormat>
  <Paragraphs>329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Aseem Kaipakasseri</dc:creator>
  <cp:lastModifiedBy>Aseem Kaipakasseri</cp:lastModifiedBy>
  <cp:revision>5</cp:revision>
  <dcterms:created xsi:type="dcterms:W3CDTF">2026-09-21T05:10:14Z</dcterms:created>
  <dcterms:modified xsi:type="dcterms:W3CDTF">2026-10-08T19:05:03Z</dcterms:modified>
</cp:coreProperties>
</file>